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4" r:id="rId2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8288000" cy="10287000"/>
  <p:notesSz cx="10287000" cy="18288000"/>
  <p:embeddedFontLst>
    <p:embeddedFont>
      <p:font typeface="Montserrat" panose="020B0604020202020204" charset="-52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OTsIaXeHvYghxXiZlvdvJO7aX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07753D-67D3-4CA6-98F4-03CB868DDC29}">
  <a:tblStyle styleId="{6507753D-67D3-4CA6-98F4-03CB868DDC2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A3F9CF1-2FF3-4C31-9C02-1106139F315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86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customschemas.google.com/relationships/presentationmetadata" Target="metadata"/><Relationship Id="rId20" Type="http://schemas.openxmlformats.org/officeDocument/2006/relationships/slide" Target="slides/slide18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ADU=0, красная и желтая зоны = 0</a:t>
            </a:r>
            <a:endParaRPr/>
          </a:p>
        </p:txBody>
      </p:sp>
      <p:sp>
        <p:nvSpPr>
          <p:cNvPr id="50" name="Google Shape;5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Зеленая зона - рассчитываем запас на полный цикл поставки.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" name="Google Shape;7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Желтая зона - учитываем неравномерность спроса.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Страхует от изменения спроса в пределах вариативности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Прямо зависит от базового спроса с учетом отклонения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Зависит от длины полного цикла, чем больше цикл тем меньше увеличение зависимости.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Для расчета желтой зоны происходит выбор максимального значения из двух величин: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Среднее потребление с учетом отклонения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Делаем запас с учетом  цикла поставки и вариабельности спроса. НО учитываем, что максимальное отклонение от АДУ происходит не каждый день. Значит запас не надо делать на изменение спроса в большую сторону на каждый день.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Вариабельность - значение присваивается в зависимости от того, в сколько раз колеблется спрос (Deviation\ADU). Чем сильнее колеблется спрос (отклоление) - тем больше значение вариабельности. (Если маленькое ADU и большое отклонение - значение VF больше).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Красная зона - учитываем запас на неожиданные редкие события, которые происходят стихийно (например, резкий скачок спроса на товар вследствие локальных изменений).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Страхует от случайных (редких) событий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 зависит от длительности цикла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Предлагается базовое значение coef=2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 KVI товаров значение coef должно быть больше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Вводятся 2 типа коэффициентов: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для товаров KVI.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для других товаров.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KVI - товары, которые должны быть на магазине (важные товары).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Обратите внимание на зеленую зону – берем чистую потребность, а не МОК.</a:t>
            </a:r>
            <a:b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Округление к-ва к заказу происходит по математическим правилам. </a:t>
            </a:r>
            <a:endParaRPr/>
          </a:p>
        </p:txBody>
      </p:sp>
      <p:sp>
        <p:nvSpPr>
          <p:cNvPr id="169" name="Google Shape;16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Проверка количества остатка на дату прихода текущего заказа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" name="Google Shape;20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Берем зоны отдельно, а не рассчитанный буфер. Обратите внимание на зеленую зону – берем чистую потребность, а не МОК.</a:t>
            </a:r>
            <a:b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Округление к-ва к заказу происходит по математическим правилам. </a:t>
            </a:r>
            <a:endParaRPr/>
          </a:p>
        </p:txBody>
      </p:sp>
      <p:sp>
        <p:nvSpPr>
          <p:cNvPr id="221" name="Google Shape;22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7" name="Google Shape;23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379948a8e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379948a8e_1_27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1" name="Google Shape;27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1" name="Google Shape;31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0" name="Google Shape;37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ed1354238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ged13542388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6" name="Google Shape;396;ged13542388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3a6e5e8d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13a6e5e8d9_3_0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7" name="Google Shape;42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ADU_Р – средняя продажа в акции</a:t>
            </a:r>
            <a:b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439" name="Google Shape;43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" name="Google Shape;45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4" name="Google Shape;49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Проверка на дату прихода текущего заказа</a:t>
            </a:r>
            <a:endParaRPr/>
          </a:p>
        </p:txBody>
      </p:sp>
      <p:sp>
        <p:nvSpPr>
          <p:cNvPr id="495" name="Google Shape;495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1" name="Google Shape;51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ed1354238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ged13542388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7" name="Google Shape;527;ged13542388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13a6e5e8d9_3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13a6e5e8d9_3_27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9" name="Google Shape;559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ADU_Р – средняя продажа в акции</a:t>
            </a:r>
            <a:b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ADU – текущее ADU (среднесуточное потребление товара)</a:t>
            </a:r>
            <a:b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ADU = 0, красная и желтая зоны = 0</a:t>
            </a:r>
            <a:endParaRPr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0" name="Google Shape;570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5" name="Google Shape;59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6" name="Google Shape;596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fbaea2739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gfbaea27394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Проверка на дату прихода текущего заказа</a:t>
            </a:r>
            <a:endParaRPr/>
          </a:p>
        </p:txBody>
      </p:sp>
      <p:sp>
        <p:nvSpPr>
          <p:cNvPr id="635" name="Google Shape;635;gfbaea27394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fbaea27394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gfbaea27394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Проверка на дату прихода текущего заказа</a:t>
            </a:r>
            <a:endParaRPr/>
          </a:p>
        </p:txBody>
      </p:sp>
      <p:sp>
        <p:nvSpPr>
          <p:cNvPr id="660" name="Google Shape;660;gfbaea27394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ed13542388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4" name="Google Shape;684;ged13542388_0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5" name="Google Shape;685;ged13542388_0_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113a6e5e8d9_3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113a6e5e8d9_3_42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5" name="Google Shape;71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6" name="Google Shape;716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EFAULT">
  <p:cSld name="2_DEFAULT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5"/>
          <p:cNvSpPr>
            <a:spLocks noGrp="1"/>
          </p:cNvSpPr>
          <p:nvPr>
            <p:ph type="pic" idx="2"/>
          </p:nvPr>
        </p:nvSpPr>
        <p:spPr>
          <a:xfrm>
            <a:off x="3121025" y="1046437"/>
            <a:ext cx="12395200" cy="6321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FAULT">
  <p:cSld name="1_DEFAULT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>
            <a:spLocks noGrp="1"/>
          </p:cNvSpPr>
          <p:nvPr>
            <p:ph type="title"/>
          </p:nvPr>
        </p:nvSpPr>
        <p:spPr>
          <a:xfrm>
            <a:off x="1444626" y="6610352"/>
            <a:ext cx="15544800" cy="20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●"/>
              <a:defRPr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8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8"/>
          <p:cNvSpPr txBox="1">
            <a:spLocks noGrp="1"/>
          </p:cNvSpPr>
          <p:nvPr>
            <p:ph type="sldNum" idx="12"/>
          </p:nvPr>
        </p:nvSpPr>
        <p:spPr>
          <a:xfrm>
            <a:off x="0" y="9594779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EFAULT">
  <p:cSld name="2_DEFAULT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1379948a8e_1_44"/>
          <p:cNvSpPr>
            <a:spLocks noGrp="1"/>
          </p:cNvSpPr>
          <p:nvPr>
            <p:ph type="pic" idx="2"/>
          </p:nvPr>
        </p:nvSpPr>
        <p:spPr>
          <a:xfrm>
            <a:off x="3121025" y="1046437"/>
            <a:ext cx="12395100" cy="632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FAULT">
  <p:cSld name="1_DEFAULT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1379948a8e_1_48"/>
          <p:cNvSpPr txBox="1">
            <a:spLocks noGrp="1"/>
          </p:cNvSpPr>
          <p:nvPr>
            <p:ph type="title"/>
          </p:nvPr>
        </p:nvSpPr>
        <p:spPr>
          <a:xfrm>
            <a:off x="1444626" y="6610352"/>
            <a:ext cx="15544800" cy="20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●"/>
              <a:defRPr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g11379948a8e_1_48"/>
          <p:cNvSpPr txBox="1"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g11379948a8e_1_48"/>
          <p:cNvSpPr txBox="1">
            <a:spLocks noGrp="1"/>
          </p:cNvSpPr>
          <p:nvPr>
            <p:ph type="dt" idx="10"/>
          </p:nvPr>
        </p:nvSpPr>
        <p:spPr>
          <a:xfrm>
            <a:off x="914400" y="9534527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g11379948a8e_1_48"/>
          <p:cNvSpPr txBox="1">
            <a:spLocks noGrp="1"/>
          </p:cNvSpPr>
          <p:nvPr>
            <p:ph type="ftr" idx="11"/>
          </p:nvPr>
        </p:nvSpPr>
        <p:spPr>
          <a:xfrm>
            <a:off x="6248400" y="9534527"/>
            <a:ext cx="57909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g11379948a8e_1_48"/>
          <p:cNvSpPr txBox="1">
            <a:spLocks noGrp="1"/>
          </p:cNvSpPr>
          <p:nvPr>
            <p:ph type="sldNum" idx="12"/>
          </p:nvPr>
        </p:nvSpPr>
        <p:spPr>
          <a:xfrm>
            <a:off x="0" y="9594779"/>
            <a:ext cx="42675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.png"/><Relationship Id="rId4" Type="http://schemas.openxmlformats.org/officeDocument/2006/relationships/image" Target="../media/image3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EC9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9050" y="866775"/>
            <a:ext cx="6838950" cy="855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 txBox="1"/>
          <p:nvPr/>
        </p:nvSpPr>
        <p:spPr>
          <a:xfrm>
            <a:off x="3282150" y="2803800"/>
            <a:ext cx="11723700" cy="4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CDA </a:t>
            </a:r>
            <a:endParaRPr sz="96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Algorithm</a:t>
            </a:r>
            <a:endParaRPr sz="96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Consumption Driven Algorithm</a:t>
            </a:r>
            <a:endParaRPr sz="36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" name="Google Shape;36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425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/>
          <p:nvPr/>
        </p:nvSpPr>
        <p:spPr>
          <a:xfrm>
            <a:off x="13608575" y="9262900"/>
            <a:ext cx="45603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ABM Inventory</a:t>
            </a:r>
            <a:endParaRPr sz="4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EC9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0" y="1151255"/>
            <a:ext cx="6838950" cy="855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 txBox="1"/>
          <p:nvPr/>
        </p:nvSpPr>
        <p:spPr>
          <a:xfrm>
            <a:off x="6838950" y="2275480"/>
            <a:ext cx="10332300" cy="60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Сравнение изменений в алгоритме CDA</a:t>
            </a: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Расчет буфера в алгоритме CDA</a:t>
            </a: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 с учетом коэффициентов дней недели</a:t>
            </a: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 в акции</a:t>
            </a: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 для последнего заказа в акции</a:t>
            </a: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3608575" y="9262900"/>
            <a:ext cx="45603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ABM Inventory</a:t>
            </a:r>
            <a:endParaRPr sz="4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425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2593" y="2885440"/>
            <a:ext cx="8223507" cy="4746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39906" y="4455550"/>
            <a:ext cx="396194" cy="1682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39906" y="6052263"/>
            <a:ext cx="396193" cy="1579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32175" y="2722638"/>
            <a:ext cx="628650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213200" y="4360938"/>
            <a:ext cx="513397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03725" y="5808738"/>
            <a:ext cx="4352925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1812594" y="628024"/>
            <a:ext cx="12391086" cy="100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буфера в алгоритме CDA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991359" y="3385638"/>
            <a:ext cx="7535603" cy="9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max( MOQ ; ADU*(DOC+DLT) )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991359" y="4828273"/>
            <a:ext cx="7535700" cy="13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max((ADU+ deviation); (ADU+deviation)*LN((DOC+DLT)+1)*VF)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991500" y="6477850"/>
            <a:ext cx="7535700" cy="11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coef_kvi * (ADU + deviation)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coef_basic * (ADU + deviation)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10925838" y="3036963"/>
            <a:ext cx="5708700" cy="4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Желтая зона</a:t>
            </a:r>
            <a:endParaRPr sz="2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2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Красная</a:t>
            </a:r>
            <a:br>
              <a:rPr lang="en-US" sz="2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зона</a:t>
            </a:r>
            <a:endParaRPr sz="2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2587250" y="3343313"/>
            <a:ext cx="26193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Зеленая зона</a:t>
            </a:r>
            <a:endParaRPr sz="26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4865514" y="2924435"/>
            <a:ext cx="847511" cy="61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max</a:t>
            </a:r>
            <a:endParaRPr sz="28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" name="Google Shape;65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14865513" y="4558088"/>
            <a:ext cx="847511" cy="61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6" descr="preencoded.png"/>
          <p:cNvPicPr preferRelativeResize="0"/>
          <p:nvPr/>
        </p:nvPicPr>
        <p:blipFill rotWithShape="1">
          <a:blip r:embed="rId3">
            <a:alphaModFix/>
          </a:blip>
          <a:srcRect r="4633"/>
          <a:stretch/>
        </p:blipFill>
        <p:spPr>
          <a:xfrm>
            <a:off x="1788160" y="2912397"/>
            <a:ext cx="794667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 descr="preencoded.png"/>
          <p:cNvPicPr preferRelativeResize="0"/>
          <p:nvPr/>
        </p:nvPicPr>
        <p:blipFill rotWithShape="1">
          <a:blip r:embed="rId3">
            <a:alphaModFix/>
          </a:blip>
          <a:srcRect r="4633"/>
          <a:stretch/>
        </p:blipFill>
        <p:spPr>
          <a:xfrm>
            <a:off x="1816450" y="4149227"/>
            <a:ext cx="796300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 rot="8099869">
            <a:off x="4220881" y="2172148"/>
            <a:ext cx="5546192" cy="5501856"/>
          </a:xfrm>
          <a:prstGeom prst="arc">
            <a:avLst>
              <a:gd name="adj1" fmla="val 16200000"/>
              <a:gd name="adj2" fmla="val 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 rot="8100000">
            <a:off x="2367956" y="4342942"/>
            <a:ext cx="3024579" cy="3028397"/>
          </a:xfrm>
          <a:prstGeom prst="arc">
            <a:avLst>
              <a:gd name="adj1" fmla="val 16200000"/>
              <a:gd name="adj2" fmla="val 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3725" y="2571750"/>
            <a:ext cx="628650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15725" y="4391025"/>
            <a:ext cx="47625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96750" y="6029325"/>
            <a:ext cx="3600450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>
            <a:off x="1816450" y="578850"/>
            <a:ext cx="81726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Зеленая зона (CDA)</a:t>
            </a:r>
            <a:endParaRPr sz="4800" b="1" i="0" u="none" strike="noStrike" cap="none">
              <a:solidFill>
                <a:srgbClr val="392EC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816450" y="1825446"/>
            <a:ext cx="5780176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Обеспечение спроса. Запас на полный цикл поставки</a:t>
            </a:r>
            <a:endParaRPr sz="2400" i="0" u="none" strike="noStrike" cap="none">
              <a:solidFill>
                <a:srgbClr val="0B132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i="0" u="none" strike="noStrike" cap="none">
              <a:solidFill>
                <a:srgbClr val="0B13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1849100" y="7734300"/>
            <a:ext cx="40956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GreenZone - это максимальное значение среди 2х значений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239803" y="3203330"/>
            <a:ext cx="6162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Minimum Order Quantity (MOQ)</a:t>
            </a:r>
            <a:br>
              <a:rPr lang="en-US" sz="2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Минимальный размер заказ</a:t>
            </a:r>
            <a:endParaRPr sz="16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2587250" y="3343313"/>
            <a:ext cx="26193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Зеленая зона</a:t>
            </a:r>
            <a:endParaRPr sz="26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" name="Google Shape;84;p6"/>
          <p:cNvCxnSpPr/>
          <p:nvPr/>
        </p:nvCxnSpPr>
        <p:spPr>
          <a:xfrm>
            <a:off x="2713788" y="6883109"/>
            <a:ext cx="6240600" cy="2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" name="Google Shape;85;p6"/>
          <p:cNvSpPr txBox="1"/>
          <p:nvPr/>
        </p:nvSpPr>
        <p:spPr>
          <a:xfrm>
            <a:off x="6528494" y="7677330"/>
            <a:ext cx="881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DOC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3508845" y="7663150"/>
            <a:ext cx="742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DLT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2239803" y="5982797"/>
            <a:ext cx="1063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 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текущий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651326" y="6757109"/>
            <a:ext cx="240475" cy="276300"/>
          </a:xfrm>
          <a:prstGeom prst="flowChartExtra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764338" y="6757109"/>
            <a:ext cx="240475" cy="276300"/>
          </a:xfrm>
          <a:prstGeom prst="flowChartExtra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6176289" y="5974422"/>
            <a:ext cx="1416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 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следующий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871088" y="6794159"/>
            <a:ext cx="240475" cy="276300"/>
          </a:xfrm>
          <a:prstGeom prst="flowChartMerg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4359376" y="6001322"/>
            <a:ext cx="1263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Поставка текущая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8224026" y="5982797"/>
            <a:ext cx="1416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Поставка следующая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801188" y="6757109"/>
            <a:ext cx="240475" cy="276300"/>
          </a:xfrm>
          <a:prstGeom prst="flowChartMerg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432899" y="4082166"/>
            <a:ext cx="977085" cy="2825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D0EAFD"/>
                </a:solidFill>
                <a:latin typeface="Arial"/>
                <a:ea typeface="Arial"/>
                <a:cs typeface="Arial"/>
                <a:sym typeface="Arial"/>
              </a:rPr>
              <a:t>      ИЛИ 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9779453" y="2912396"/>
            <a:ext cx="347553" cy="2496851"/>
          </a:xfrm>
          <a:prstGeom prst="rect">
            <a:avLst/>
          </a:prstGeom>
          <a:solidFill>
            <a:srgbClr val="35BA8A"/>
          </a:solidFill>
          <a:ln w="25400" cap="flat" cmpd="sng">
            <a:solidFill>
              <a:srgbClr val="35B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14865514" y="2924435"/>
            <a:ext cx="847511" cy="61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max</a:t>
            </a:r>
            <a:endParaRPr sz="28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230551" y="4314371"/>
            <a:ext cx="6162600" cy="1162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ADU*(DOC+DLT)</a:t>
            </a:r>
            <a:br>
              <a:rPr lang="en-US" sz="21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Среднесуточное потребление товара на</a:t>
            </a:r>
            <a:r>
              <a:rPr lang="en-US" sz="1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период между текущим заказом и следующей по графику поставкой</a:t>
            </a:r>
            <a:endParaRPr sz="16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7850" y="5879538"/>
            <a:ext cx="8321225" cy="22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7" descr="preencoded.png"/>
          <p:cNvPicPr preferRelativeResize="0"/>
          <p:nvPr/>
        </p:nvPicPr>
        <p:blipFill rotWithShape="1">
          <a:blip r:embed="rId4">
            <a:alphaModFix/>
          </a:blip>
          <a:srcRect r="4633"/>
          <a:stretch/>
        </p:blipFill>
        <p:spPr>
          <a:xfrm>
            <a:off x="1838375" y="2908075"/>
            <a:ext cx="794108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44225" y="2762250"/>
            <a:ext cx="59055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1847850" y="552450"/>
            <a:ext cx="8510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Желтая зона (CDA)</a:t>
            </a:r>
            <a:endParaRPr sz="4800" b="1" i="0" u="none" strike="noStrike" cap="none">
              <a:solidFill>
                <a:srgbClr val="392EC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838375" y="1831962"/>
            <a:ext cx="6066105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Страховой запас с учетом неравномерности спроса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223975" y="5996813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119925" y="5955726"/>
            <a:ext cx="5076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Натуральный логарифм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0502325" y="6070375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195325" y="6667113"/>
            <a:ext cx="7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VF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119925" y="6626026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Фактор вариабельности спроса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688325" y="5078730"/>
            <a:ext cx="2417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Желтая зона</a:t>
            </a:r>
            <a:endParaRPr sz="26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" name="Google Shape;116;p7" descr="preencoded.png"/>
          <p:cNvPicPr preferRelativeResize="0"/>
          <p:nvPr/>
        </p:nvPicPr>
        <p:blipFill rotWithShape="1">
          <a:blip r:embed="rId4">
            <a:alphaModFix/>
          </a:blip>
          <a:srcRect r="4633"/>
          <a:stretch/>
        </p:blipFill>
        <p:spPr>
          <a:xfrm>
            <a:off x="1838375" y="4146324"/>
            <a:ext cx="7941080" cy="133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79453" y="2908075"/>
            <a:ext cx="354701" cy="262201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2193074" y="3231850"/>
            <a:ext cx="6849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ADU + deviation</a:t>
            </a:r>
            <a:endParaRPr sz="28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Среднесуточное потребление товара с учетом отклонения</a:t>
            </a:r>
            <a:endParaRPr sz="16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2193074" y="4261797"/>
            <a:ext cx="7417026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(ADU+ deviation)*ln((DOC+DLT)+1)*VF</a:t>
            </a:r>
            <a:br>
              <a:rPr lang="en-US" sz="21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Среднесуточное потребление товара на период между текущим заказом и следующей поставкой с учетом отклонения , фактором вариабельности спроса</a:t>
            </a:r>
            <a:endParaRPr sz="1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11751337" y="7655050"/>
            <a:ext cx="429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Желтая зона - это максимальное значение из 2х значений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193075" y="7337413"/>
            <a:ext cx="1320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deviation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119925" y="7337413"/>
            <a:ext cx="42291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B132B"/>
                </a:solidFill>
                <a:latin typeface="Arial"/>
                <a:ea typeface="Arial"/>
                <a:cs typeface="Arial"/>
                <a:sym typeface="Arial"/>
              </a:rPr>
              <a:t>Отклонение от среднесуточного потребления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1838" y="5822713"/>
            <a:ext cx="83248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7300" y="6464438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2606800" y="4068170"/>
            <a:ext cx="609600" cy="1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D0EAFD"/>
                </a:solidFill>
                <a:latin typeface="Arial"/>
                <a:ea typeface="Arial"/>
                <a:cs typeface="Arial"/>
                <a:sym typeface="Arial"/>
              </a:rPr>
              <a:t> ИЛИ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7663" y="7163325"/>
            <a:ext cx="83248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14958622" y="4648276"/>
            <a:ext cx="847511" cy="61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3063" y="5838458"/>
            <a:ext cx="84956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525" y="7143750"/>
            <a:ext cx="183070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 descr="preencoded.png"/>
          <p:cNvPicPr preferRelativeResize="0"/>
          <p:nvPr/>
        </p:nvPicPr>
        <p:blipFill rotWithShape="1">
          <a:blip r:embed="rId5">
            <a:alphaModFix/>
          </a:blip>
          <a:srcRect r="4815"/>
          <a:stretch/>
        </p:blipFill>
        <p:spPr>
          <a:xfrm>
            <a:off x="1788160" y="4148218"/>
            <a:ext cx="8082476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8" descr="preencoded.png"/>
          <p:cNvPicPr preferRelativeResize="0"/>
          <p:nvPr/>
        </p:nvPicPr>
        <p:blipFill rotWithShape="1">
          <a:blip r:embed="rId5">
            <a:alphaModFix/>
          </a:blip>
          <a:srcRect r="4815"/>
          <a:stretch/>
        </p:blipFill>
        <p:spPr>
          <a:xfrm>
            <a:off x="1788160" y="2931176"/>
            <a:ext cx="807271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76475" y="2700338"/>
            <a:ext cx="590550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1847850" y="600075"/>
            <a:ext cx="7124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Красная зона (CDA)</a:t>
            </a:r>
            <a:endParaRPr sz="4800" b="1" i="0" u="none" strike="noStrike" cap="none">
              <a:solidFill>
                <a:srgbClr val="392EC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847850" y="1800225"/>
            <a:ext cx="67818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Страховой запас на неожиданные события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3999076" y="5914108"/>
            <a:ext cx="514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Базовый коэффициент для всех товаров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751113" y="6294133"/>
            <a:ext cx="8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166417" y="4320700"/>
            <a:ext cx="5905500" cy="101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coef_kvi*(ADU+deviation)</a:t>
            </a:r>
            <a:endParaRPr sz="28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Среднесуточное потребление товара с учетом коэффициента для товаров с меткой KVI</a:t>
            </a:r>
            <a:endParaRPr sz="1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2702375" y="6586538"/>
            <a:ext cx="24537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Красная зона</a:t>
            </a:r>
            <a:endParaRPr sz="26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2053669" y="3009853"/>
            <a:ext cx="5905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coef_basic*(ADU+deviation)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Среднесуточное потребление товара с учетом базового коэффициента</a:t>
            </a:r>
            <a:endParaRPr sz="16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999088" y="6656108"/>
            <a:ext cx="5146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Коэффициент для товаров с меткой KVI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22513" y="6437946"/>
            <a:ext cx="83248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22513" y="5675946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2252163" y="6651308"/>
            <a:ext cx="1481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coef_kvi</a:t>
            </a:r>
            <a:endParaRPr sz="1800" b="1" i="0" u="none" strike="noStrike" cap="none">
              <a:solidFill>
                <a:srgbClr val="0B13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252163" y="5923646"/>
            <a:ext cx="1481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coef_basic</a:t>
            </a:r>
            <a:endParaRPr sz="1800" b="1" i="0" u="none" strike="noStrike" cap="none">
              <a:solidFill>
                <a:srgbClr val="0B13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1" name="Google Shape;151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9779453" y="2913080"/>
            <a:ext cx="354701" cy="243624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0"/>
            <a:ext cx="10382250" cy="10287000"/>
          </a:xfrm>
          <a:prstGeom prst="rect">
            <a:avLst/>
          </a:prstGeom>
          <a:solidFill>
            <a:srgbClr val="392EC9"/>
          </a:solidFill>
          <a:ln w="25400" cap="flat" cmpd="sng">
            <a:solidFill>
              <a:srgbClr val="4E44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8725" y="0"/>
            <a:ext cx="1905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8725" y="0"/>
            <a:ext cx="1905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1628775" y="6195060"/>
            <a:ext cx="10200640" cy="235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</a:t>
            </a:r>
            <a:br>
              <a:rPr lang="en-US" sz="6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6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 заказу</a:t>
            </a:r>
            <a:endParaRPr sz="60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919595" y="9563100"/>
            <a:ext cx="34482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ABM INVENTORY</a:t>
            </a:r>
            <a:endParaRPr sz="27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-792480" y="0"/>
            <a:ext cx="183070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82250" y="0"/>
            <a:ext cx="790575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2425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5000" y="4711778"/>
            <a:ext cx="6568398" cy="24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7850" y="4695225"/>
            <a:ext cx="7944001" cy="46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0"/>
          <p:cNvSpPr/>
          <p:nvPr/>
        </p:nvSpPr>
        <p:spPr>
          <a:xfrm>
            <a:off x="1828800" y="556350"/>
            <a:ext cx="150645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потребности к заказу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4" name="Google Shape;174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0" y="2293475"/>
            <a:ext cx="15559999" cy="13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/>
          <p:nvPr/>
        </p:nvSpPr>
        <p:spPr>
          <a:xfrm>
            <a:off x="2230950" y="2476851"/>
            <a:ext cx="138261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 = ADU * (DOC + DLT)  + КраснаяЗона + ЖелтаяЗона + </a:t>
            </a:r>
            <a:b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 Буфер Безопасности + Р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езерв</a:t>
            </a: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ЕЗ - Остаток 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пути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7" name="Google Shape;177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76475" y="4562475"/>
            <a:ext cx="81153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66850" y="7267575"/>
            <a:ext cx="77343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76475" y="7972425"/>
            <a:ext cx="69151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76475" y="8677275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2230950" y="482885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ADU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867150" y="4810125"/>
            <a:ext cx="592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Среднесуточное потребление товара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2230950" y="5671975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867150" y="5514975"/>
            <a:ext cx="6019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Разница между днем поставки следующего регулярного заказа и днем поставки текущего заказа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3857625" y="7515225"/>
            <a:ext cx="42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Остаток на вечер вчерашнего дня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2224125" y="7491400"/>
            <a:ext cx="19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Остаток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2224125" y="8220075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ЕЗ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3867150" y="8220075"/>
            <a:ext cx="2676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Единоразовый заказ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2230950" y="8948750"/>
            <a:ext cx="145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</a:t>
            </a:r>
            <a:r>
              <a:rPr lang="en-US" sz="1800" b="1">
                <a:latin typeface="Montserrat"/>
                <a:ea typeface="Montserrat"/>
                <a:cs typeface="Montserrat"/>
                <a:sym typeface="Montserrat"/>
              </a:rPr>
              <a:t>езерв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867150" y="8924925"/>
            <a:ext cx="601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Зарезервированное количество под покупателя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1" name="Google Shape;191;p1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76475" y="6515100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/>
          <p:nvPr/>
        </p:nvSpPr>
        <p:spPr>
          <a:xfrm>
            <a:off x="2230950" y="68222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DLT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3867150" y="6762750"/>
            <a:ext cx="601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Время на поставку текущего заказа</a:t>
            </a:r>
            <a:endParaRPr sz="18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0761250" y="4810125"/>
            <a:ext cx="6153300" cy="2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Рассчитанное количество чистой потребности сравниваем со значениями MOQ и с прогнозируемым потреблением за время выполнения текущего заказа с учетом количества в пути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12110720" y="7726300"/>
            <a:ext cx="3741900" cy="8430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1941445" y="8727790"/>
            <a:ext cx="1965600" cy="12045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4058250" y="8715349"/>
            <a:ext cx="1995000" cy="11793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2579591" y="7915391"/>
            <a:ext cx="2804100" cy="464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12480394" y="9099217"/>
            <a:ext cx="1097100" cy="461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4105800" y="9126227"/>
            <a:ext cx="1899900" cy="461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ADU * DLT</a:t>
            </a:r>
            <a:endParaRPr sz="1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1" name="Google Shape;201;p10" descr="preencoded.png"/>
          <p:cNvPicPr preferRelativeResize="0"/>
          <p:nvPr/>
        </p:nvPicPr>
        <p:blipFill rotWithShape="1">
          <a:blip r:embed="rId10">
            <a:alphaModFix/>
          </a:blip>
          <a:srcRect t="36484" r="32785"/>
          <a:stretch/>
        </p:blipFill>
        <p:spPr>
          <a:xfrm>
            <a:off x="15390888" y="-22303"/>
            <a:ext cx="2919415" cy="275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1828800" y="564400"/>
            <a:ext cx="10209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8" name="Google Shape;20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661213"/>
            <a:ext cx="15559999" cy="13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/>
          <p:nvPr/>
        </p:nvSpPr>
        <p:spPr>
          <a:xfrm>
            <a:off x="2230950" y="3789113"/>
            <a:ext cx="138261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ADU*(DOC+DLT) + КраснаяЗона + ЖелтаяЗона + </a:t>
            </a:r>
            <a:b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+Буфер Безопасности + Р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езерв</a:t>
            </a: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+ЕЗ - Остаток – В пути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1828800" y="1831298"/>
            <a:ext cx="10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12" name="Google Shape;212;p11"/>
          <p:cNvGraphicFramePr/>
          <p:nvPr/>
        </p:nvGraphicFramePr>
        <p:xfrm>
          <a:off x="13797280" y="668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{6507753D-67D3-4CA6-98F4-03CB868DDC29}</a:tableStyleId>
              </a:tblPr>
              <a:tblGrid>
                <a:gridCol w="239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Красная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Желтая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1,5274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Зеленая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Рассчитанный Буфер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13,5274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Буфер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Заказ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3" name="Google Shape;213;p11"/>
          <p:cNvSpPr txBox="1"/>
          <p:nvPr/>
        </p:nvSpPr>
        <p:spPr>
          <a:xfrm>
            <a:off x="3020700" y="6853175"/>
            <a:ext cx="83922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* (7 + 5) + 0 + 1, 53 – 9 – 0 + 0 + 0 + 0 </a:t>
            </a:r>
            <a:r>
              <a:rPr lang="en-US"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  </a:t>
            </a:r>
            <a:b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</a:t>
            </a:r>
            <a:b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* 5 </a:t>
            </a:r>
            <a:r>
              <a:rPr lang="en-US" sz="2400" b="1" i="0" u="sng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9 + 0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 * (7 +5) + 0 + 1, 53 – 0 + 0 + 0 - 9 + 0 = </a:t>
            </a:r>
            <a:r>
              <a:rPr lang="en-US"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8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14" name="Google Shape;214;p11"/>
          <p:cNvGraphicFramePr/>
          <p:nvPr/>
        </p:nvGraphicFramePr>
        <p:xfrm>
          <a:off x="1828800" y="5362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{6507753D-67D3-4CA6-98F4-03CB868DDC29}</a:tableStyleId>
              </a:tblPr>
              <a:tblGrid>
                <a:gridCol w="119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08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08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08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2082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ADU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deviation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DLT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MOQ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USQ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Остаток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В пути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ЕЗ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600"/>
                        <a:t>езерв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VF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Coef_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basic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Coef_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kvi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0,191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5" name="Google Shape;215;p11"/>
          <p:cNvGraphicFramePr/>
          <p:nvPr/>
        </p:nvGraphicFramePr>
        <p:xfrm>
          <a:off x="3359675" y="1727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{9A3F9CF1-2FF3-4C31-9C02-1106139F315C}</a:tableStyleId>
              </a:tblPr>
              <a:tblGrid>
                <a:gridCol w="357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Потребность </a:t>
                      </a:r>
                      <a:endParaRPr sz="1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MOQ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ADU*DLT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b="1" u="sng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Остаток + В пути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6" name="Google Shape;216;p11"/>
          <p:cNvSpPr txBox="1"/>
          <p:nvPr/>
        </p:nvSpPr>
        <p:spPr>
          <a:xfrm>
            <a:off x="1828800" y="7083799"/>
            <a:ext cx="10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12218" y="9797701"/>
            <a:ext cx="87479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 Округление количества к заказу происходит по математическим правилам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588875"/>
            <a:ext cx="15559999" cy="13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/>
          <p:nvPr/>
        </p:nvSpPr>
        <p:spPr>
          <a:xfrm>
            <a:off x="1828800" y="564400"/>
            <a:ext cx="10209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</a:t>
            </a:r>
            <a:endParaRPr sz="4800" b="1" i="0" u="none" strike="noStrike" cap="none">
              <a:solidFill>
                <a:srgbClr val="392EC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5" name="Google Shape;225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2"/>
          <p:cNvSpPr/>
          <p:nvPr/>
        </p:nvSpPr>
        <p:spPr>
          <a:xfrm>
            <a:off x="2230950" y="3695250"/>
            <a:ext cx="149454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ADU*DOC + (КраснаяЗона+ЖелтаяЗона) * DOC / (DOC+DLT) + </a:t>
            </a:r>
            <a:b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 Буфер Безопасности + РТО +ЕЗ 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27" name="Google Shape;227;p12"/>
          <p:cNvGraphicFramePr/>
          <p:nvPr/>
        </p:nvGraphicFramePr>
        <p:xfrm>
          <a:off x="1828800" y="536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{6507753D-67D3-4CA6-98F4-03CB868DDC29}</a:tableStyleId>
              </a:tblPr>
              <a:tblGrid>
                <a:gridCol w="119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08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08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08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2082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ADU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deviation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DLT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MOQ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USQ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Остаток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В пути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ЕЗ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PTO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VF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Coef_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basic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Coef_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kvi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0,191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8" name="Google Shape;228;p12"/>
          <p:cNvGraphicFramePr/>
          <p:nvPr/>
        </p:nvGraphicFramePr>
        <p:xfrm>
          <a:off x="13764125" y="672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{6507753D-67D3-4CA6-98F4-03CB868DDC29}</a:tableStyleId>
              </a:tblPr>
              <a:tblGrid>
                <a:gridCol w="238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Красная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Желтая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1,5274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Зеленая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Рассчитанный Буфер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13,5274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Буфер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Заказ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9" name="Google Shape;229;p12"/>
          <p:cNvSpPr txBox="1"/>
          <p:nvPr/>
        </p:nvSpPr>
        <p:spPr>
          <a:xfrm>
            <a:off x="3208825" y="7043725"/>
            <a:ext cx="8392200" cy="27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* (7 + 5) + 0 + 1, 53 – 3 – 0 + 0 + 0 + 0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0 </a:t>
            </a:r>
            <a:b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b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* 5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3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 =</a:t>
            </a: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1 * 7 + (0 + 1, 53)*7 / (7 + 5) + 0 + 0 + 0 =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sz="24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1828800" y="1833001"/>
            <a:ext cx="10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31" name="Google Shape;231;p12"/>
          <p:cNvGraphicFramePr/>
          <p:nvPr/>
        </p:nvGraphicFramePr>
        <p:xfrm>
          <a:off x="3419325" y="1737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{9A3F9CF1-2FF3-4C31-9C02-1106139F315C}</a:tableStyleId>
              </a:tblPr>
              <a:tblGrid>
                <a:gridCol w="351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Потребность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MOQ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ADU*DLT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Остаток + В пути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2" name="Google Shape;232;p12"/>
          <p:cNvSpPr txBox="1"/>
          <p:nvPr/>
        </p:nvSpPr>
        <p:spPr>
          <a:xfrm>
            <a:off x="1828800" y="7083799"/>
            <a:ext cx="10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12218" y="9797701"/>
            <a:ext cx="87479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 Округление количества к заказу происходит по математическим правилам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5375" y="4852420"/>
            <a:ext cx="6913201" cy="13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/>
          <p:nvPr/>
        </p:nvSpPr>
        <p:spPr>
          <a:xfrm>
            <a:off x="1828800" y="556375"/>
            <a:ext cx="10209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1" name="Google Shape;241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3"/>
          <p:cNvSpPr/>
          <p:nvPr/>
        </p:nvSpPr>
        <p:spPr>
          <a:xfrm>
            <a:off x="9329424" y="5337461"/>
            <a:ext cx="68037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MOQ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1828800" y="1617650"/>
            <a:ext cx="97533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      </a:t>
            </a:r>
            <a:r>
              <a:rPr lang="en-US" sz="3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отребность   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≤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Количество к заказу рассчитывается с учетом настройки::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4" name="Google Shape;244;p13" descr="preencoded.png"/>
          <p:cNvPicPr preferRelativeResize="0"/>
          <p:nvPr/>
        </p:nvPicPr>
        <p:blipFill rotWithShape="1">
          <a:blip r:embed="rId5">
            <a:alphaModFix/>
          </a:blip>
          <a:srcRect t="11808" r="12581"/>
          <a:stretch/>
        </p:blipFill>
        <p:spPr>
          <a:xfrm>
            <a:off x="14491080" y="-82253"/>
            <a:ext cx="3796920" cy="383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6900" y="4852420"/>
            <a:ext cx="6913201" cy="13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3"/>
          <p:cNvSpPr/>
          <p:nvPr/>
        </p:nvSpPr>
        <p:spPr>
          <a:xfrm>
            <a:off x="1896899" y="5337461"/>
            <a:ext cx="68037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2866500" y="3977075"/>
            <a:ext cx="4974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отребность   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≤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Порог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1997700" y="2939750"/>
            <a:ext cx="14292600" cy="742800"/>
          </a:xfrm>
          <a:prstGeom prst="rect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*Заказывать если потребность больше MOQ x Порог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(= 0 (по умолчанию), 0,1; 0,2; 0,3; 0,4; 0,5)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10314975" y="3977088"/>
            <a:ext cx="4974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отребность   </a:t>
            </a:r>
            <a:r>
              <a:rPr lang="en-US" sz="30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x Порог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2277825" y="7028725"/>
            <a:ext cx="6150900" cy="2289000"/>
          </a:xfrm>
          <a:prstGeom prst="rect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MOQ = 50шт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Порог = 0,5 (50*0,5 = 25)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Потребность = 10шт (10&lt;25)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Количество к заказу = 0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9772650" y="7028725"/>
            <a:ext cx="6150900" cy="2289000"/>
          </a:xfrm>
          <a:prstGeom prst="rect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MOQ = 50шт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Порог = 0,5 (50*0,5 = 25)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Потребность = 30шт (30&gt;25)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Количество к заказу = 50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g11379948a8e_1_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11379948a8e_1_27"/>
          <p:cNvSpPr/>
          <p:nvPr/>
        </p:nvSpPr>
        <p:spPr>
          <a:xfrm>
            <a:off x="1828800" y="556375"/>
            <a:ext cx="135684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</a:t>
            </a:r>
            <a:r>
              <a:rPr lang="en-US" sz="4800" b="1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окончательного буфера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g11379948a8e_1_27"/>
          <p:cNvSpPr txBox="1"/>
          <p:nvPr/>
        </p:nvSpPr>
        <p:spPr>
          <a:xfrm>
            <a:off x="1828800" y="1617650"/>
            <a:ext cx="14368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После расчета количества к заказу рассчитывается окончательный буфер, который отображается на графике SKU.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9" name="Google Shape;259;g11379948a8e_1_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5408600"/>
            <a:ext cx="14501525" cy="9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11379948a8e_1_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1" y="2840350"/>
            <a:ext cx="14501525" cy="9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11379948a8e_1_27"/>
          <p:cNvSpPr/>
          <p:nvPr/>
        </p:nvSpPr>
        <p:spPr>
          <a:xfrm>
            <a:off x="1921351" y="3065925"/>
            <a:ext cx="14075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количество К заказу &gt; 0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11379948a8e_1_27"/>
          <p:cNvSpPr/>
          <p:nvPr/>
        </p:nvSpPr>
        <p:spPr>
          <a:xfrm>
            <a:off x="1921352" y="5651488"/>
            <a:ext cx="100971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количество К заказу =0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3" name="Google Shape;263;g11379948a8e_1_2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799" y="4173175"/>
            <a:ext cx="14501523" cy="8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11379948a8e_1_27"/>
          <p:cNvSpPr/>
          <p:nvPr/>
        </p:nvSpPr>
        <p:spPr>
          <a:xfrm>
            <a:off x="2063240" y="4310260"/>
            <a:ext cx="140571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Буфер = Заказ + Остаток + В пути - ЕЗ - Резерв - ББ</a:t>
            </a:r>
            <a:endParaRPr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5" name="Google Shape;265;g11379948a8e_1_27" descr="preencoded.png"/>
          <p:cNvPicPr preferRelativeResize="0"/>
          <p:nvPr/>
        </p:nvPicPr>
        <p:blipFill rotWithShape="1">
          <a:blip r:embed="rId6">
            <a:alphaModFix/>
          </a:blip>
          <a:srcRect l="19021" b="13718"/>
          <a:stretch/>
        </p:blipFill>
        <p:spPr>
          <a:xfrm>
            <a:off x="-4" y="7057598"/>
            <a:ext cx="3094559" cy="32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11379948a8e_1_2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1828799" y="6741425"/>
            <a:ext cx="14501523" cy="8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11379948a8e_1_27"/>
          <p:cNvSpPr/>
          <p:nvPr/>
        </p:nvSpPr>
        <p:spPr>
          <a:xfrm>
            <a:off x="2063240" y="6878510"/>
            <a:ext cx="140571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Буфер = Остаток + В пути - ЕЗ - Резерв - ББ</a:t>
            </a:r>
            <a:endParaRPr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EC9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09270" y="715925"/>
            <a:ext cx="7867650" cy="71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43088" y="4698999"/>
            <a:ext cx="154397" cy="2507343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4"/>
          <p:cNvSpPr/>
          <p:nvPr/>
        </p:nvSpPr>
        <p:spPr>
          <a:xfrm>
            <a:off x="7358380" y="2591407"/>
            <a:ext cx="988441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 с учетом коэффициентов дней недели</a:t>
            </a:r>
            <a:endParaRPr sz="40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7358380" y="4749544"/>
            <a:ext cx="91779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Установить КДН можно для товаров частопродающихся с графиком поставки несколько дней в неделю.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7358380" y="5650637"/>
            <a:ext cx="9177936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Сумма КДН равняется 7.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Установить можно с помощью импорта шаблона  SKU-body-template.xlsx, массово проставить во вкладке CDA товары, а так же рассчитать автоматически с помощью системы.</a:t>
            </a:r>
            <a:b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8" name="Google Shape;278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425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/>
          <p:cNvSpPr/>
          <p:nvPr/>
        </p:nvSpPr>
        <p:spPr>
          <a:xfrm>
            <a:off x="13608575" y="9262900"/>
            <a:ext cx="45603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ABM Inventory</a:t>
            </a:r>
            <a:endParaRPr sz="4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5" descr="preencoded.png"/>
          <p:cNvPicPr preferRelativeResize="0"/>
          <p:nvPr/>
        </p:nvPicPr>
        <p:blipFill rotWithShape="1">
          <a:blip r:embed="rId3">
            <a:alphaModFix/>
          </a:blip>
          <a:srcRect r="4633"/>
          <a:stretch/>
        </p:blipFill>
        <p:spPr>
          <a:xfrm>
            <a:off x="1891408" y="2953545"/>
            <a:ext cx="794108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5"/>
          <p:cNvSpPr/>
          <p:nvPr/>
        </p:nvSpPr>
        <p:spPr>
          <a:xfrm rot="8099869">
            <a:off x="1785087" y="532618"/>
            <a:ext cx="7435758" cy="7286282"/>
          </a:xfrm>
          <a:prstGeom prst="arc">
            <a:avLst>
              <a:gd name="adj1" fmla="val 16200000"/>
              <a:gd name="adj2" fmla="val 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425" y="342900"/>
            <a:ext cx="4762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3725" y="2571750"/>
            <a:ext cx="628650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15725" y="4391025"/>
            <a:ext cx="47625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096750" y="6029325"/>
            <a:ext cx="3600450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5"/>
          <p:cNvSpPr/>
          <p:nvPr/>
        </p:nvSpPr>
        <p:spPr>
          <a:xfrm>
            <a:off x="1816449" y="578850"/>
            <a:ext cx="15223775" cy="1400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буфера с учетом коэффициентов дней недели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12587250" y="3343313"/>
            <a:ext cx="26193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Зеленая зона</a:t>
            </a:r>
            <a:endParaRPr sz="26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11685136" y="4500867"/>
            <a:ext cx="442352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красной и желтой зоны остаются без учета коэффициентов 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дней недели.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1956027" y="3150007"/>
            <a:ext cx="75962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 </a:t>
            </a:r>
            <a:r>
              <a:rPr lang="en-US"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 </a:t>
            </a:r>
            <a:r>
              <a:rPr lang="en-US" sz="21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, ADU * Сумма КДН </a:t>
            </a:r>
            <a:r>
              <a:rPr lang="en-US"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Даты текущего заказа до даты перед днем след. прихода)</a:t>
            </a:r>
            <a:endParaRPr sz="2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5" name="Google Shape;295;p15"/>
          <p:cNvCxnSpPr/>
          <p:nvPr/>
        </p:nvCxnSpPr>
        <p:spPr>
          <a:xfrm>
            <a:off x="2778935" y="6643193"/>
            <a:ext cx="6240600" cy="2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6" name="Google Shape;296;p15"/>
          <p:cNvSpPr txBox="1"/>
          <p:nvPr/>
        </p:nvSpPr>
        <p:spPr>
          <a:xfrm>
            <a:off x="2204760" y="5666841"/>
            <a:ext cx="1263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</a:t>
            </a:r>
            <a:b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 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текущего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2716473" y="6517193"/>
            <a:ext cx="240475" cy="276300"/>
          </a:xfrm>
          <a:prstGeom prst="flowChartExtra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6829485" y="6517193"/>
            <a:ext cx="240475" cy="276300"/>
          </a:xfrm>
          <a:prstGeom prst="flowChartExtra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6258052" y="6790993"/>
            <a:ext cx="14166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след.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заказа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4936235" y="6554243"/>
            <a:ext cx="240475" cy="276300"/>
          </a:xfrm>
          <a:prstGeom prst="flowChartMerg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4445047" y="6797275"/>
            <a:ext cx="1263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поставки текущего</a:t>
            </a:r>
            <a:b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заказа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8278260" y="6830531"/>
            <a:ext cx="14166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след.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прихода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8866335" y="6517193"/>
            <a:ext cx="240475" cy="276300"/>
          </a:xfrm>
          <a:prstGeom prst="flowChartMerg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7932260" y="6517193"/>
            <a:ext cx="240475" cy="276300"/>
          </a:xfrm>
          <a:prstGeom prst="flowChartCollat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5"/>
          <p:cNvSpPr txBox="1"/>
          <p:nvPr/>
        </p:nvSpPr>
        <p:spPr>
          <a:xfrm>
            <a:off x="7491297" y="5399405"/>
            <a:ext cx="1263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перед днем след. прихода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9408160" y="2953545"/>
            <a:ext cx="406256" cy="1238250"/>
          </a:xfrm>
          <a:prstGeom prst="rect">
            <a:avLst/>
          </a:prstGeom>
          <a:solidFill>
            <a:srgbClr val="35BA8A"/>
          </a:solidFill>
          <a:ln w="25400" cap="flat" cmpd="sng">
            <a:solidFill>
              <a:srgbClr val="35B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4865514" y="2924435"/>
            <a:ext cx="847511" cy="61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max</a:t>
            </a:r>
            <a:endParaRPr sz="28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"/>
          <p:cNvSpPr/>
          <p:nvPr/>
        </p:nvSpPr>
        <p:spPr>
          <a:xfrm rot="8100000">
            <a:off x="1356008" y="876171"/>
            <a:ext cx="7186185" cy="7304554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1828800" y="556375"/>
            <a:ext cx="155601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потребности с учетом коэффициентов дней недели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5" name="Google Shape;31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16"/>
          <p:cNvCxnSpPr/>
          <p:nvPr/>
        </p:nvCxnSpPr>
        <p:spPr>
          <a:xfrm>
            <a:off x="2247900" y="6965730"/>
            <a:ext cx="6240600" cy="2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7" name="Google Shape;317;p16"/>
          <p:cNvSpPr txBox="1"/>
          <p:nvPr/>
        </p:nvSpPr>
        <p:spPr>
          <a:xfrm>
            <a:off x="1724700" y="5872849"/>
            <a:ext cx="1263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</a:t>
            </a:r>
            <a:b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 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текущего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2185438" y="6839730"/>
            <a:ext cx="240475" cy="276300"/>
          </a:xfrm>
          <a:prstGeom prst="flowChartExtra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298450" y="6839730"/>
            <a:ext cx="240475" cy="276300"/>
          </a:xfrm>
          <a:prstGeom prst="flowChartExtra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5689314" y="5898347"/>
            <a:ext cx="14166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след. 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4405200" y="6876780"/>
            <a:ext cx="240475" cy="276300"/>
          </a:xfrm>
          <a:prstGeom prst="flowChartMerg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3893487" y="5872849"/>
            <a:ext cx="1263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поставки текущая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16"/>
          <p:cNvSpPr txBox="1"/>
          <p:nvPr/>
        </p:nvSpPr>
        <p:spPr>
          <a:xfrm>
            <a:off x="7747225" y="7153068"/>
            <a:ext cx="14166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прихода след. товара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8335300" y="6839730"/>
            <a:ext cx="240475" cy="276300"/>
          </a:xfrm>
          <a:prstGeom prst="flowChartMerg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7471975" y="6837230"/>
            <a:ext cx="240475" cy="276300"/>
          </a:xfrm>
          <a:prstGeom prst="flowChartCollat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6960263" y="5694480"/>
            <a:ext cx="1263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перед днем след. прихода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7" name="Google Shape;327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4528448"/>
            <a:ext cx="6240601" cy="4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14681" y="4394335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6"/>
          <p:cNvSpPr/>
          <p:nvPr/>
        </p:nvSpPr>
        <p:spPr>
          <a:xfrm>
            <a:off x="2247900" y="4613636"/>
            <a:ext cx="1481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КДН</a:t>
            </a:r>
            <a:endParaRPr sz="1800" b="1" i="0" u="none" strike="noStrike" cap="none">
              <a:solidFill>
                <a:srgbClr val="0B13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792186" y="4601804"/>
            <a:ext cx="601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Коэффициенты дней недели</a:t>
            </a:r>
            <a:endParaRPr sz="18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1" name="Google Shape;331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8800" y="2293475"/>
            <a:ext cx="15559999" cy="173650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6"/>
          <p:cNvSpPr/>
          <p:nvPr/>
        </p:nvSpPr>
        <p:spPr>
          <a:xfrm>
            <a:off x="2086487" y="2377489"/>
            <a:ext cx="15042675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 = ADU*(Сумма КДН с Даты текущего заказа до даты перед днем след. прихода) + КраснаяЗона + ЖелтаяЗона + </a:t>
            </a:r>
            <a:b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 Буфер Безопасности + РТО +ЕЗ - Остаток – В пути</a:t>
            </a:r>
            <a:endParaRPr sz="32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3" name="Google Shape;333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35000" y="4711778"/>
            <a:ext cx="6568398" cy="24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6"/>
          <p:cNvSpPr/>
          <p:nvPr/>
        </p:nvSpPr>
        <p:spPr>
          <a:xfrm>
            <a:off x="10761250" y="4810125"/>
            <a:ext cx="6153300" cy="2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Рассчитанное количество чистой потребности сравниваем со значениями MOQ и с прогнозируемым потреблением за время выполнения текущего заказа с учетом количества в пути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12110720" y="7726300"/>
            <a:ext cx="3741900" cy="8430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11941445" y="8727790"/>
            <a:ext cx="1965600" cy="12045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14058250" y="8715349"/>
            <a:ext cx="1995000" cy="11793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12579591" y="7915391"/>
            <a:ext cx="2804100" cy="464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12480394" y="9099217"/>
            <a:ext cx="1097100" cy="461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14105800" y="9126227"/>
            <a:ext cx="1899900" cy="461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ADU * DLT</a:t>
            </a:r>
            <a:endParaRPr sz="1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"/>
          <p:cNvSpPr/>
          <p:nvPr/>
        </p:nvSpPr>
        <p:spPr>
          <a:xfrm rot="8194896">
            <a:off x="8672466" y="-319961"/>
            <a:ext cx="7186165" cy="7304571"/>
          </a:xfrm>
          <a:prstGeom prst="arc">
            <a:avLst>
              <a:gd name="adj1" fmla="val 15947919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1828800" y="556375"/>
            <a:ext cx="155601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 с учетом коэффициентов дней недели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8" name="Google Shape;348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0238" y="7515272"/>
            <a:ext cx="15450724" cy="19573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17"/>
          <p:cNvCxnSpPr/>
          <p:nvPr/>
        </p:nvCxnSpPr>
        <p:spPr>
          <a:xfrm>
            <a:off x="9607825" y="5756825"/>
            <a:ext cx="6240600" cy="2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1" name="Google Shape;351;p17"/>
          <p:cNvSpPr txBox="1"/>
          <p:nvPr/>
        </p:nvSpPr>
        <p:spPr>
          <a:xfrm>
            <a:off x="9068114" y="4723177"/>
            <a:ext cx="1263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</a:t>
            </a:r>
            <a:b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 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текущего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9545363" y="5630825"/>
            <a:ext cx="240475" cy="276300"/>
          </a:xfrm>
          <a:prstGeom prst="flowChartExtra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13658375" y="5630825"/>
            <a:ext cx="240475" cy="276300"/>
          </a:xfrm>
          <a:prstGeom prst="flowChartExtra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13070312" y="4716642"/>
            <a:ext cx="14166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след. 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10850725" y="5667875"/>
            <a:ext cx="240475" cy="276300"/>
          </a:xfrm>
          <a:prstGeom prst="flowChartMerg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10339012" y="4499074"/>
            <a:ext cx="1263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поставки текущ</a:t>
            </a: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его </a:t>
            </a:r>
            <a:br>
              <a:rPr lang="en-US" sz="15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заказа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15107150" y="5944163"/>
            <a:ext cx="14166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прихода след. товара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15695225" y="5630825"/>
            <a:ext cx="240475" cy="276300"/>
          </a:xfrm>
          <a:prstGeom prst="flowChartMerg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14831900" y="5628325"/>
            <a:ext cx="240475" cy="276300"/>
          </a:xfrm>
          <a:prstGeom prst="flowChartCollat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14320200" y="4526926"/>
            <a:ext cx="1263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перед днем след. прихода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2045569" y="7720242"/>
            <a:ext cx="15240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ADU*(Сумма КДН с Даты текущего заказа до даты перед днем след. прихода) + КраснаяЗона + ЖелтаяЗона + Буфер Безопасности +</a:t>
            </a:r>
            <a:b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 Резерв +ЕЗ - Остаток – В пути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2" name="Google Shape;362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47850" y="5645100"/>
            <a:ext cx="6240601" cy="4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37300" y="5482588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7"/>
          <p:cNvSpPr/>
          <p:nvPr/>
        </p:nvSpPr>
        <p:spPr>
          <a:xfrm>
            <a:off x="2266950" y="5730288"/>
            <a:ext cx="1481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КДН</a:t>
            </a:r>
            <a:endParaRPr sz="1800" b="1" i="0" u="none" strike="noStrike" cap="none">
              <a:solidFill>
                <a:srgbClr val="0B13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323700" y="5730300"/>
            <a:ext cx="601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Коэффициенты дней недели</a:t>
            </a:r>
            <a:endParaRPr sz="18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66" name="Google Shape;366;p17"/>
          <p:cNvGraphicFramePr/>
          <p:nvPr/>
        </p:nvGraphicFramePr>
        <p:xfrm>
          <a:off x="1765313" y="22262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{9A3F9CF1-2FF3-4C31-9C02-1106139F315C}</a:tableStyleId>
              </a:tblPr>
              <a:tblGrid>
                <a:gridCol w="953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3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Потребность с учетом коэффициентов дней недели</a:t>
                      </a:r>
                      <a:endParaRPr sz="2400" i="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MOQ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ADU*DLT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b="1" u="sng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Остаток + В пути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/>
          <p:nvPr/>
        </p:nvSpPr>
        <p:spPr>
          <a:xfrm>
            <a:off x="1828800" y="556375"/>
            <a:ext cx="155601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 с учетом коэффициентов дней недели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3" name="Google Shape;373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0238" y="7515272"/>
            <a:ext cx="15450724" cy="19573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18"/>
          <p:cNvCxnSpPr/>
          <p:nvPr/>
        </p:nvCxnSpPr>
        <p:spPr>
          <a:xfrm>
            <a:off x="9607825" y="5756825"/>
            <a:ext cx="6240600" cy="2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6" name="Google Shape;376;p18"/>
          <p:cNvSpPr txBox="1"/>
          <p:nvPr/>
        </p:nvSpPr>
        <p:spPr>
          <a:xfrm>
            <a:off x="9041191" y="4701850"/>
            <a:ext cx="1263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</a:t>
            </a:r>
            <a:b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 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текущего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9545363" y="5630825"/>
            <a:ext cx="240475" cy="276300"/>
          </a:xfrm>
          <a:prstGeom prst="flowChartExtra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13658375" y="5630825"/>
            <a:ext cx="240475" cy="276300"/>
          </a:xfrm>
          <a:prstGeom prst="flowChartExtra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8"/>
          <p:cNvSpPr txBox="1"/>
          <p:nvPr/>
        </p:nvSpPr>
        <p:spPr>
          <a:xfrm>
            <a:off x="13070312" y="4701850"/>
            <a:ext cx="14166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след. 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10850725" y="5667875"/>
            <a:ext cx="240475" cy="276300"/>
          </a:xfrm>
          <a:prstGeom prst="flowChartMerg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8"/>
          <p:cNvSpPr txBox="1"/>
          <p:nvPr/>
        </p:nvSpPr>
        <p:spPr>
          <a:xfrm>
            <a:off x="15107150" y="5944163"/>
            <a:ext cx="14166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прихода след. товара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15695225" y="5630825"/>
            <a:ext cx="240475" cy="276300"/>
          </a:xfrm>
          <a:prstGeom prst="flowChartMerg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14831900" y="5628325"/>
            <a:ext cx="240475" cy="276300"/>
          </a:xfrm>
          <a:prstGeom prst="flowChartCollat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14320398" y="4509675"/>
            <a:ext cx="1263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перед днем след. прихода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1987794" y="7635643"/>
            <a:ext cx="15240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ADU*(Сумма КДН с Даты 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поставки </a:t>
            </a: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текущего заказа до даты перед днем след. прихода) + (КраснаяЗона + ЖелтаяЗона) * DOC/(DOC+DLT) + Буфер Безопасности + Р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езерв</a:t>
            </a: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+ЕЗ</a:t>
            </a:r>
            <a:endParaRPr sz="32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6" name="Google Shape;386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47850" y="5645100"/>
            <a:ext cx="6240601" cy="4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37300" y="5482588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8"/>
          <p:cNvSpPr/>
          <p:nvPr/>
        </p:nvSpPr>
        <p:spPr>
          <a:xfrm>
            <a:off x="2266950" y="5730288"/>
            <a:ext cx="1481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B132B"/>
                </a:solidFill>
                <a:latin typeface="Montserrat"/>
                <a:ea typeface="Montserrat"/>
                <a:cs typeface="Montserrat"/>
                <a:sym typeface="Montserrat"/>
              </a:rPr>
              <a:t>КДН</a:t>
            </a:r>
            <a:endParaRPr sz="1800" b="1" i="0" u="none" strike="noStrike" cap="none">
              <a:solidFill>
                <a:srgbClr val="0B13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18"/>
          <p:cNvSpPr/>
          <p:nvPr/>
        </p:nvSpPr>
        <p:spPr>
          <a:xfrm rot="8194779">
            <a:off x="10342189" y="1345663"/>
            <a:ext cx="5255871" cy="5292379"/>
          </a:xfrm>
          <a:prstGeom prst="arc">
            <a:avLst>
              <a:gd name="adj1" fmla="val 15947919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4323700" y="5730300"/>
            <a:ext cx="601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Коэффициенты дней недели</a:t>
            </a:r>
            <a:endParaRPr sz="18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91" name="Google Shape;391;p18"/>
          <p:cNvGraphicFramePr/>
          <p:nvPr/>
        </p:nvGraphicFramePr>
        <p:xfrm>
          <a:off x="1765313" y="22262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{9A3F9CF1-2FF3-4C31-9C02-1106139F315C}</a:tableStyleId>
              </a:tblPr>
              <a:tblGrid>
                <a:gridCol w="957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3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Потребность с учетом коэффициентов дней недели</a:t>
                      </a:r>
                      <a:endParaRPr sz="2400" i="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MOQ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ADU*DLT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Остаток + В пути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2" name="Google Shape;392;p18"/>
          <p:cNvSpPr txBox="1"/>
          <p:nvPr/>
        </p:nvSpPr>
        <p:spPr>
          <a:xfrm>
            <a:off x="10339012" y="4499074"/>
            <a:ext cx="1263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поставки текущ</a:t>
            </a: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его </a:t>
            </a:r>
            <a:br>
              <a:rPr lang="en-US" sz="15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заказа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ged13542388_0_4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5375" y="7138420"/>
            <a:ext cx="6913201" cy="139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ed13542388_0_4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ed13542388_0_43"/>
          <p:cNvSpPr/>
          <p:nvPr/>
        </p:nvSpPr>
        <p:spPr>
          <a:xfrm>
            <a:off x="9329424" y="7623461"/>
            <a:ext cx="68037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MOQ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ged13542388_0_43"/>
          <p:cNvSpPr txBox="1"/>
          <p:nvPr/>
        </p:nvSpPr>
        <p:spPr>
          <a:xfrm>
            <a:off x="1828800" y="2303450"/>
            <a:ext cx="122112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     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 с учетом коэффициентов дней недели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≤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Количество к заказу рассчитывается с учетом настройки: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2" name="Google Shape;402;ged13542388_0_4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6900" y="7138420"/>
            <a:ext cx="6913201" cy="13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ed13542388_0_43"/>
          <p:cNvSpPr/>
          <p:nvPr/>
        </p:nvSpPr>
        <p:spPr>
          <a:xfrm>
            <a:off x="1896899" y="7623461"/>
            <a:ext cx="68037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ged13542388_0_43"/>
          <p:cNvSpPr txBox="1"/>
          <p:nvPr/>
        </p:nvSpPr>
        <p:spPr>
          <a:xfrm>
            <a:off x="2381700" y="5398475"/>
            <a:ext cx="5943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отребность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учетом коэффициентов дней недели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≤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Порог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ged13542388_0_43"/>
          <p:cNvSpPr/>
          <p:nvPr/>
        </p:nvSpPr>
        <p:spPr>
          <a:xfrm>
            <a:off x="1997700" y="3920100"/>
            <a:ext cx="15391200" cy="742800"/>
          </a:xfrm>
          <a:prstGeom prst="rect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*Заказывать если потребность больше MOQ x Порог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(= 0 (по умолчанию), 0,1; 0,2; 0,3; 0,4; 0,5)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ged13542388_0_43"/>
          <p:cNvSpPr txBox="1"/>
          <p:nvPr/>
        </p:nvSpPr>
        <p:spPr>
          <a:xfrm>
            <a:off x="9830175" y="5398463"/>
            <a:ext cx="5943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отребность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учетом коэффициентов дней недели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30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x Порог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ged13542388_0_43"/>
          <p:cNvSpPr/>
          <p:nvPr/>
        </p:nvSpPr>
        <p:spPr>
          <a:xfrm>
            <a:off x="1828800" y="556375"/>
            <a:ext cx="155601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 с учетом коэффициентов дней недели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g113a6e5e8d9_3_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113a6e5e8d9_3_0"/>
          <p:cNvSpPr/>
          <p:nvPr/>
        </p:nvSpPr>
        <p:spPr>
          <a:xfrm>
            <a:off x="1828800" y="556375"/>
            <a:ext cx="135684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</a:t>
            </a:r>
            <a:r>
              <a:rPr lang="en-US" sz="4800" b="1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окончательного буфера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g113a6e5e8d9_3_0"/>
          <p:cNvSpPr txBox="1"/>
          <p:nvPr/>
        </p:nvSpPr>
        <p:spPr>
          <a:xfrm>
            <a:off x="1828800" y="1617650"/>
            <a:ext cx="14368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После расчета количества к заказу рассчитывается окончательный буфер, который отображается на графике SKU.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5" name="Google Shape;415;g113a6e5e8d9_3_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5408600"/>
            <a:ext cx="14501525" cy="9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113a6e5e8d9_3_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1" y="2840350"/>
            <a:ext cx="14501525" cy="9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113a6e5e8d9_3_0"/>
          <p:cNvSpPr/>
          <p:nvPr/>
        </p:nvSpPr>
        <p:spPr>
          <a:xfrm>
            <a:off x="1921351" y="3065925"/>
            <a:ext cx="14075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количество К заказу &gt; 0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113a6e5e8d9_3_0"/>
          <p:cNvSpPr/>
          <p:nvPr/>
        </p:nvSpPr>
        <p:spPr>
          <a:xfrm>
            <a:off x="1921352" y="5651488"/>
            <a:ext cx="100971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количество К заказу =0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9" name="Google Shape;419;g113a6e5e8d9_3_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799" y="4173175"/>
            <a:ext cx="14501523" cy="8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113a6e5e8d9_3_0"/>
          <p:cNvSpPr/>
          <p:nvPr/>
        </p:nvSpPr>
        <p:spPr>
          <a:xfrm>
            <a:off x="2063240" y="4310260"/>
            <a:ext cx="140571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Буфер = Заказ + Остаток + В пути - ЕЗ - Резерв - ББ</a:t>
            </a:r>
            <a:endParaRPr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1" name="Google Shape;421;g113a6e5e8d9_3_0" descr="preencoded.png"/>
          <p:cNvPicPr preferRelativeResize="0"/>
          <p:nvPr/>
        </p:nvPicPr>
        <p:blipFill rotWithShape="1">
          <a:blip r:embed="rId6">
            <a:alphaModFix/>
          </a:blip>
          <a:srcRect l="19021" b="13718"/>
          <a:stretch/>
        </p:blipFill>
        <p:spPr>
          <a:xfrm>
            <a:off x="-4" y="7057598"/>
            <a:ext cx="3094559" cy="32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113a6e5e8d9_3_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1828799" y="6741425"/>
            <a:ext cx="14501523" cy="8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113a6e5e8d9_3_0"/>
          <p:cNvSpPr/>
          <p:nvPr/>
        </p:nvSpPr>
        <p:spPr>
          <a:xfrm>
            <a:off x="2063240" y="6878510"/>
            <a:ext cx="140571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Буфер = Остаток + В пути - ЕЗ - Резерв - ББ</a:t>
            </a:r>
            <a:endParaRPr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20" descr="preencoded.png"/>
          <p:cNvPicPr preferRelativeResize="0"/>
          <p:nvPr/>
        </p:nvPicPr>
        <p:blipFill rotWithShape="1">
          <a:blip r:embed="rId3">
            <a:alphaModFix/>
          </a:blip>
          <a:srcRect t="10802" r="33709"/>
          <a:stretch/>
        </p:blipFill>
        <p:spPr>
          <a:xfrm>
            <a:off x="11796710" y="-22302"/>
            <a:ext cx="6491290" cy="8472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8725" y="0"/>
            <a:ext cx="1905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8725" y="0"/>
            <a:ext cx="1905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0"/>
          <p:cNvSpPr/>
          <p:nvPr/>
        </p:nvSpPr>
        <p:spPr>
          <a:xfrm>
            <a:off x="1971040" y="7048500"/>
            <a:ext cx="10200640" cy="235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</a:t>
            </a:r>
            <a:br>
              <a:rPr lang="en-US" sz="6000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6000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 к заказу в акции</a:t>
            </a:r>
            <a:endParaRPr sz="6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1924050" y="6124575"/>
            <a:ext cx="34482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ABM INVENTORY</a:t>
            </a:r>
            <a:endParaRPr sz="27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4" name="Google Shape;434;p20" descr="preencoded.png"/>
          <p:cNvPicPr preferRelativeResize="0"/>
          <p:nvPr/>
        </p:nvPicPr>
        <p:blipFill rotWithShape="1">
          <a:blip r:embed="rId6">
            <a:alphaModFix/>
          </a:blip>
          <a:srcRect t="23002"/>
          <a:stretch/>
        </p:blipFill>
        <p:spPr>
          <a:xfrm>
            <a:off x="7262660" y="-22302"/>
            <a:ext cx="6960235" cy="5427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7775" y="2722650"/>
            <a:ext cx="9204376" cy="51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40887" y="4455550"/>
            <a:ext cx="371050" cy="17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40897" y="6188449"/>
            <a:ext cx="371040" cy="17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32175" y="2722638"/>
            <a:ext cx="628650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1"/>
          <p:cNvSpPr/>
          <p:nvPr/>
        </p:nvSpPr>
        <p:spPr>
          <a:xfrm>
            <a:off x="1385875" y="578650"/>
            <a:ext cx="1021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буфера в акции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1385863" y="3342190"/>
            <a:ext cx="8141100" cy="63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max( MOQ, ADU_Р*(DOC+DLT) )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1390687" y="4827173"/>
            <a:ext cx="8650200" cy="100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max((ADU_Р+deviation), (ADU_Р+deviation)*LN((DOC+DLT)+1)*VF)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1385863" y="6493596"/>
            <a:ext cx="8141100" cy="887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coef_kvi * (ADU_Р + deviation)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coef_basic * (ADU_Р + deviation)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0" name="Google Shape;450;p2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213200" y="4360938"/>
            <a:ext cx="513397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603725" y="5808738"/>
            <a:ext cx="4352925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1"/>
          <p:cNvSpPr txBox="1"/>
          <p:nvPr/>
        </p:nvSpPr>
        <p:spPr>
          <a:xfrm>
            <a:off x="10925838" y="3036963"/>
            <a:ext cx="5708700" cy="4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Желтая зона</a:t>
            </a:r>
            <a:endParaRPr sz="2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2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Красная</a:t>
            </a:r>
            <a:br>
              <a:rPr lang="en-US" sz="2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зона</a:t>
            </a:r>
            <a:endParaRPr sz="2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12587250" y="3343313"/>
            <a:ext cx="26193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Зеленая зона</a:t>
            </a:r>
            <a:endParaRPr sz="26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14865514" y="2924435"/>
            <a:ext cx="847511" cy="61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max</a:t>
            </a:r>
            <a:endParaRPr sz="28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14865513" y="4558088"/>
            <a:ext cx="847511" cy="61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</a:t>
            </a:r>
            <a:endParaRPr sz="2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7850" y="3993750"/>
            <a:ext cx="7944001" cy="532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4125" y="4339697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2"/>
          <p:cNvSpPr/>
          <p:nvPr/>
        </p:nvSpPr>
        <p:spPr>
          <a:xfrm>
            <a:off x="1828800" y="556350"/>
            <a:ext cx="15064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потребности в акции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4" name="Google Shape;464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8800" y="2293475"/>
            <a:ext cx="15559999" cy="13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2"/>
          <p:cNvSpPr/>
          <p:nvPr/>
        </p:nvSpPr>
        <p:spPr>
          <a:xfrm>
            <a:off x="2230950" y="2477975"/>
            <a:ext cx="13826099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 = ADU_Р*(DOC+DLT) + КраснаяЗона + ЖелтаяЗона +</a:t>
            </a:r>
            <a:b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 Буфер Безопасности + Р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езерв</a:t>
            </a: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+ЕЗ - Остаток – В пути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7" name="Google Shape;467;p2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67001" y="7267575"/>
            <a:ext cx="77343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76475" y="7972425"/>
            <a:ext cx="69151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6475" y="8677275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2"/>
          <p:cNvSpPr/>
          <p:nvPr/>
        </p:nvSpPr>
        <p:spPr>
          <a:xfrm>
            <a:off x="2230950" y="4589369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ADU_Р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3867150" y="4265849"/>
            <a:ext cx="5924700" cy="9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Прогнозируемая на основании настроек акции средняя продажа \ рассчитанная средняя продажа в акции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2230950" y="5671975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3867150" y="5514975"/>
            <a:ext cx="6019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Разница между днем поставки следующего регулярного заказа и днем поставки текущего заказа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3857625" y="7515225"/>
            <a:ext cx="42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Остаток на вечер вчерашнего дня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22"/>
          <p:cNvSpPr/>
          <p:nvPr/>
        </p:nvSpPr>
        <p:spPr>
          <a:xfrm>
            <a:off x="2224125" y="7491400"/>
            <a:ext cx="19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Остаток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2224125" y="8220075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ЕЗ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3867150" y="8220075"/>
            <a:ext cx="2676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Единоразовый заказ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2230950" y="8948750"/>
            <a:ext cx="1390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</a:t>
            </a:r>
            <a:r>
              <a:rPr lang="en-US" sz="1800" b="1">
                <a:latin typeface="Montserrat"/>
                <a:ea typeface="Montserrat"/>
                <a:cs typeface="Montserrat"/>
                <a:sym typeface="Montserrat"/>
              </a:rPr>
              <a:t>езерв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3867150" y="8924925"/>
            <a:ext cx="601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Зарезервированное количество под покупателя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0" name="Google Shape;480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52721" y="6515100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2"/>
          <p:cNvSpPr/>
          <p:nvPr/>
        </p:nvSpPr>
        <p:spPr>
          <a:xfrm>
            <a:off x="2230950" y="68222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DLT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22"/>
          <p:cNvSpPr/>
          <p:nvPr/>
        </p:nvSpPr>
        <p:spPr>
          <a:xfrm>
            <a:off x="3867150" y="6762750"/>
            <a:ext cx="601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Время на поставку текущего заказа</a:t>
            </a:r>
            <a:endParaRPr sz="18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3" name="Google Shape;483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4125" y="5532589"/>
            <a:ext cx="83248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5000" y="4711778"/>
            <a:ext cx="6568398" cy="24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2"/>
          <p:cNvSpPr/>
          <p:nvPr/>
        </p:nvSpPr>
        <p:spPr>
          <a:xfrm>
            <a:off x="10761250" y="4810125"/>
            <a:ext cx="6153300" cy="2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Рассчитанное количество чистой потребности сравниваем со значениями MOQ и с прогнозируемым потреблением за время выполнения текущего заказа с учетом количества в пути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12110720" y="7726300"/>
            <a:ext cx="3741900" cy="8430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11941445" y="8727790"/>
            <a:ext cx="1965600" cy="12045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14058250" y="8715349"/>
            <a:ext cx="1995000" cy="11793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12579591" y="7915391"/>
            <a:ext cx="2804100" cy="464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12480394" y="9099217"/>
            <a:ext cx="1097100" cy="461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14105800" y="9126227"/>
            <a:ext cx="1899900" cy="461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ADU * DLT</a:t>
            </a:r>
            <a:endParaRPr sz="1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3"/>
          <p:cNvSpPr/>
          <p:nvPr/>
        </p:nvSpPr>
        <p:spPr>
          <a:xfrm>
            <a:off x="1828800" y="564400"/>
            <a:ext cx="13295101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 в акции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8" name="Google Shape;498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3661213"/>
            <a:ext cx="15559999" cy="1388584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3"/>
          <p:cNvSpPr/>
          <p:nvPr/>
        </p:nvSpPr>
        <p:spPr>
          <a:xfrm>
            <a:off x="2478075" y="3827610"/>
            <a:ext cx="14261400" cy="1050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ADU_Р*(DOC+DLT) + КраснаяЗона + ЖелтаяЗона + </a:t>
            </a:r>
            <a:b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 Буфер Безопасности + Резерв +ЕЗ - Остаток – В пути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23"/>
          <p:cNvSpPr txBox="1"/>
          <p:nvPr/>
        </p:nvSpPr>
        <p:spPr>
          <a:xfrm>
            <a:off x="1828800" y="1804552"/>
            <a:ext cx="10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02" name="Google Shape;502;p23"/>
          <p:cNvGraphicFramePr/>
          <p:nvPr/>
        </p:nvGraphicFramePr>
        <p:xfrm>
          <a:off x="3422144" y="16412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{9A3F9CF1-2FF3-4C31-9C02-1106139F315C}</a:tableStyleId>
              </a:tblPr>
              <a:tblGrid>
                <a:gridCol w="351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Потребность</a:t>
                      </a:r>
                      <a:endParaRPr sz="1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MOQ</a:t>
                      </a:r>
                      <a:endParaRPr sz="1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ADU_Р*DLT</a:t>
                      </a:r>
                      <a:endParaRPr sz="1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b="1" u="sng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Остаток + В пути</a:t>
                      </a:r>
                      <a:endParaRPr sz="1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3" name="Google Shape;503;p23"/>
          <p:cNvSpPr txBox="1"/>
          <p:nvPr/>
        </p:nvSpPr>
        <p:spPr>
          <a:xfrm>
            <a:off x="1828800" y="7083799"/>
            <a:ext cx="10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04" name="Google Shape;504;p23"/>
          <p:cNvGraphicFramePr/>
          <p:nvPr/>
        </p:nvGraphicFramePr>
        <p:xfrm>
          <a:off x="1828800" y="538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{6507753D-67D3-4CA6-98F4-03CB868DDC29}</a:tableStyleId>
              </a:tblPr>
              <a:tblGrid>
                <a:gridCol w="10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1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1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4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11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11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114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114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11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111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ADU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ADU_P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Deviation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DLT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MOQ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USQ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Остаток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В пути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ЕЗ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600"/>
                        <a:t>езерв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VF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Coef_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basic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Coef_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kvi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0,35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0,7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5" name="Google Shape;505;p23"/>
          <p:cNvSpPr txBox="1"/>
          <p:nvPr/>
        </p:nvSpPr>
        <p:spPr>
          <a:xfrm>
            <a:off x="3020700" y="7083799"/>
            <a:ext cx="84744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 * (7+5) + 9,6 + 0 + 0 + 0 + 0 – 40 - 0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1 </a:t>
            </a:r>
            <a:b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 * 5 </a:t>
            </a:r>
            <a:r>
              <a:rPr lang="en-US" sz="2400" b="1" i="0" u="sng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40 +0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Заказ =</a:t>
            </a:r>
            <a:r>
              <a:rPr lang="en-US" sz="2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5 * (7+5) + 9,6 + 0 + 0 + 0 + 0 – 40 - 0 =</a:t>
            </a:r>
            <a:r>
              <a:rPr lang="en-US" sz="24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30</a:t>
            </a:r>
            <a:endParaRPr sz="24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06" name="Google Shape;506;p23"/>
          <p:cNvGraphicFramePr/>
          <p:nvPr/>
        </p:nvGraphicFramePr>
        <p:xfrm>
          <a:off x="14344375" y="685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{6507753D-67D3-4CA6-98F4-03CB868DDC29}</a:tableStyleId>
              </a:tblPr>
              <a:tblGrid>
                <a:gridCol w="18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Красная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Желтая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9,065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Зеленая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Рассчитанный Буфер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69,605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Буфер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Заказ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7" name="Google Shape;507;p23"/>
          <p:cNvSpPr/>
          <p:nvPr/>
        </p:nvSpPr>
        <p:spPr>
          <a:xfrm>
            <a:off x="112218" y="9797701"/>
            <a:ext cx="87479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 Округление количества к заказу происходит по математическим правилам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3436475"/>
            <a:ext cx="15559999" cy="129794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4"/>
          <p:cNvSpPr/>
          <p:nvPr/>
        </p:nvSpPr>
        <p:spPr>
          <a:xfrm>
            <a:off x="1828800" y="564400"/>
            <a:ext cx="132735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Arial"/>
                <a:ea typeface="Arial"/>
                <a:cs typeface="Arial"/>
                <a:sym typeface="Arial"/>
              </a:rPr>
              <a:t>Расчет количества к заказу в акции</a:t>
            </a:r>
            <a:endParaRPr sz="4800" b="1" i="0" u="none" strike="noStrike" cap="none">
              <a:solidFill>
                <a:srgbClr val="392EC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4"/>
          <p:cNvSpPr/>
          <p:nvPr/>
        </p:nvSpPr>
        <p:spPr>
          <a:xfrm>
            <a:off x="2136099" y="3587520"/>
            <a:ext cx="14945400" cy="1088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ADU_Р*DOC + (КраснаяЗона+ЖелтаяЗона) * DOC / (DOC+DLT) + </a:t>
            </a:r>
            <a:b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 Буфер Безопасности + Р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езерв</a:t>
            </a: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+ЕЗ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24"/>
          <p:cNvSpPr txBox="1"/>
          <p:nvPr/>
        </p:nvSpPr>
        <p:spPr>
          <a:xfrm>
            <a:off x="3020700" y="7083799"/>
            <a:ext cx="83922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* (5+7) + 9,6 + 0 + 0 + 0 + 0 - 23 - 0 </a:t>
            </a:r>
            <a:r>
              <a:rPr lang="en-US"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 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* 5 </a:t>
            </a:r>
            <a:r>
              <a:rPr lang="en-US"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23 + 0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5 * 7 + (9,6 + 0)*5/(5+7) + 0 + 0 + 0 - 0 = </a:t>
            </a:r>
            <a:r>
              <a:rPr lang="en-US"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39</a:t>
            </a:r>
            <a:endParaRPr sz="24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24"/>
          <p:cNvSpPr txBox="1"/>
          <p:nvPr/>
        </p:nvSpPr>
        <p:spPr>
          <a:xfrm>
            <a:off x="1828800" y="1811705"/>
            <a:ext cx="10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19" name="Google Shape;519;p24"/>
          <p:cNvGraphicFramePr/>
          <p:nvPr/>
        </p:nvGraphicFramePr>
        <p:xfrm>
          <a:off x="3355236" y="157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{9A3F9CF1-2FF3-4C31-9C02-1106139F315C}</a:tableStyleId>
              </a:tblPr>
              <a:tblGrid>
                <a:gridCol w="351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Потребность</a:t>
                      </a:r>
                      <a:endParaRPr sz="1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MOQ</a:t>
                      </a:r>
                      <a:endParaRPr sz="1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ADU_Р*DLT</a:t>
                      </a:r>
                      <a:endParaRPr sz="1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Остаток + В пути</a:t>
                      </a:r>
                      <a:endParaRPr sz="1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0" name="Google Shape;520;p24"/>
          <p:cNvSpPr txBox="1"/>
          <p:nvPr/>
        </p:nvSpPr>
        <p:spPr>
          <a:xfrm>
            <a:off x="1828800" y="7083799"/>
            <a:ext cx="10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21" name="Google Shape;521;p24"/>
          <p:cNvGraphicFramePr/>
          <p:nvPr/>
        </p:nvGraphicFramePr>
        <p:xfrm>
          <a:off x="1828800" y="534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{6507753D-67D3-4CA6-98F4-03CB868DDC29}</a:tableStyleId>
              </a:tblPr>
              <a:tblGrid>
                <a:gridCol w="11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03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187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187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187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1187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ADU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ADU_P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deviation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DLT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MOQ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USQ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Остаток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В пути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ЕЗ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600"/>
                        <a:t>езерв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VF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Coef_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basic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Coef_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kvi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0,35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0,7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2" name="Google Shape;522;p24"/>
          <p:cNvGraphicFramePr/>
          <p:nvPr/>
        </p:nvGraphicFramePr>
        <p:xfrm>
          <a:off x="13983525" y="685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{6507753D-67D3-4CA6-98F4-03CB868DDC29}</a:tableStyleId>
              </a:tblPr>
              <a:tblGrid>
                <a:gridCol w="226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Красная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Желтая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9,065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Зеленая зона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Рассчитанный Буфер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69,605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Буфер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Заказ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3" name="Google Shape;523;p24"/>
          <p:cNvSpPr/>
          <p:nvPr/>
        </p:nvSpPr>
        <p:spPr>
          <a:xfrm>
            <a:off x="112218" y="9797701"/>
            <a:ext cx="87479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 Округление количества к заказу происходит по математическим правилам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ged13542388_0_7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5375" y="5538220"/>
            <a:ext cx="6913201" cy="139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ed13542388_0_7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ged13542388_0_75"/>
          <p:cNvSpPr/>
          <p:nvPr/>
        </p:nvSpPr>
        <p:spPr>
          <a:xfrm>
            <a:off x="9329424" y="6023261"/>
            <a:ext cx="68037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MOQ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ged13542388_0_75"/>
          <p:cNvSpPr txBox="1"/>
          <p:nvPr/>
        </p:nvSpPr>
        <p:spPr>
          <a:xfrm>
            <a:off x="1828800" y="1617650"/>
            <a:ext cx="11096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      </a:t>
            </a:r>
            <a:r>
              <a:rPr lang="en-US" sz="3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отребность   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≤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Количество к заказу рассчитывается с учетом настройки: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3" name="Google Shape;533;ged13542388_0_75" descr="preencoded.png"/>
          <p:cNvPicPr preferRelativeResize="0"/>
          <p:nvPr/>
        </p:nvPicPr>
        <p:blipFill rotWithShape="1">
          <a:blip r:embed="rId5">
            <a:alphaModFix/>
          </a:blip>
          <a:srcRect t="11808" r="12579"/>
          <a:stretch/>
        </p:blipFill>
        <p:spPr>
          <a:xfrm rot="5400000">
            <a:off x="14510405" y="6473297"/>
            <a:ext cx="3796920" cy="383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ged13542388_0_7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6900" y="5538220"/>
            <a:ext cx="6913201" cy="13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ed13542388_0_75"/>
          <p:cNvSpPr/>
          <p:nvPr/>
        </p:nvSpPr>
        <p:spPr>
          <a:xfrm>
            <a:off x="1896899" y="6023261"/>
            <a:ext cx="68037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ged13542388_0_75"/>
          <p:cNvSpPr txBox="1"/>
          <p:nvPr/>
        </p:nvSpPr>
        <p:spPr>
          <a:xfrm>
            <a:off x="2866500" y="4510475"/>
            <a:ext cx="4974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отребность   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≤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Порог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ged13542388_0_75"/>
          <p:cNvSpPr/>
          <p:nvPr/>
        </p:nvSpPr>
        <p:spPr>
          <a:xfrm>
            <a:off x="1997700" y="3168350"/>
            <a:ext cx="14292600" cy="742800"/>
          </a:xfrm>
          <a:prstGeom prst="rect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*Заказывать если потребность больше MOQ x Порог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(= 0 (по умолчанию), 0,1; 0,2; 0,3; 0,4; 0,5)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ged13542388_0_75"/>
          <p:cNvSpPr txBox="1"/>
          <p:nvPr/>
        </p:nvSpPr>
        <p:spPr>
          <a:xfrm>
            <a:off x="10314975" y="4510488"/>
            <a:ext cx="4974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отребность   </a:t>
            </a:r>
            <a:r>
              <a:rPr lang="en-US" sz="30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x Порог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ged13542388_0_75"/>
          <p:cNvSpPr/>
          <p:nvPr/>
        </p:nvSpPr>
        <p:spPr>
          <a:xfrm>
            <a:off x="1828800" y="556375"/>
            <a:ext cx="126816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Arial"/>
                <a:ea typeface="Arial"/>
                <a:cs typeface="Arial"/>
                <a:sym typeface="Arial"/>
              </a:rPr>
              <a:t>Расчет количества к заказу в акции</a:t>
            </a:r>
            <a:endParaRPr sz="4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g113a6e5e8d9_3_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113a6e5e8d9_3_27"/>
          <p:cNvSpPr/>
          <p:nvPr/>
        </p:nvSpPr>
        <p:spPr>
          <a:xfrm>
            <a:off x="1828800" y="556375"/>
            <a:ext cx="135684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</a:t>
            </a:r>
            <a:r>
              <a:rPr lang="en-US" sz="4800" b="1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окончательного буфера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g113a6e5e8d9_3_27"/>
          <p:cNvSpPr txBox="1"/>
          <p:nvPr/>
        </p:nvSpPr>
        <p:spPr>
          <a:xfrm>
            <a:off x="1828800" y="1617650"/>
            <a:ext cx="14368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После расчета количества к заказу рассчитывается окончательный буфер, который отображается на графике SKU.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7" name="Google Shape;547;g113a6e5e8d9_3_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5408600"/>
            <a:ext cx="14501525" cy="9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113a6e5e8d9_3_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1" y="2840350"/>
            <a:ext cx="14501525" cy="9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113a6e5e8d9_3_27"/>
          <p:cNvSpPr/>
          <p:nvPr/>
        </p:nvSpPr>
        <p:spPr>
          <a:xfrm>
            <a:off x="1921351" y="3065925"/>
            <a:ext cx="14075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количество К заказу &gt; 0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113a6e5e8d9_3_27"/>
          <p:cNvSpPr/>
          <p:nvPr/>
        </p:nvSpPr>
        <p:spPr>
          <a:xfrm>
            <a:off x="1921352" y="5651488"/>
            <a:ext cx="100971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количество К заказу =0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1" name="Google Shape;551;g113a6e5e8d9_3_2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799" y="4173175"/>
            <a:ext cx="14501523" cy="8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g113a6e5e8d9_3_27"/>
          <p:cNvSpPr/>
          <p:nvPr/>
        </p:nvSpPr>
        <p:spPr>
          <a:xfrm>
            <a:off x="2063240" y="4310260"/>
            <a:ext cx="140571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Буфер = Заказ + Остаток + В пути - ЕЗ - Резерв - ББ</a:t>
            </a:r>
            <a:endParaRPr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3" name="Google Shape;553;g113a6e5e8d9_3_27" descr="preencoded.png"/>
          <p:cNvPicPr preferRelativeResize="0"/>
          <p:nvPr/>
        </p:nvPicPr>
        <p:blipFill rotWithShape="1">
          <a:blip r:embed="rId6">
            <a:alphaModFix/>
          </a:blip>
          <a:srcRect l="19021" b="13718"/>
          <a:stretch/>
        </p:blipFill>
        <p:spPr>
          <a:xfrm>
            <a:off x="-4" y="7057598"/>
            <a:ext cx="3094559" cy="32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g113a6e5e8d9_3_2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1828799" y="6741425"/>
            <a:ext cx="14501523" cy="8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g113a6e5e8d9_3_27"/>
          <p:cNvSpPr/>
          <p:nvPr/>
        </p:nvSpPr>
        <p:spPr>
          <a:xfrm>
            <a:off x="2063240" y="6878510"/>
            <a:ext cx="140571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Буфер = Остаток + В пути - ЕЗ - Резерв - ББ</a:t>
            </a:r>
            <a:endParaRPr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EC9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9780" y="620365"/>
            <a:ext cx="2948015" cy="2965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6"/>
          <p:cNvPicPr preferRelativeResize="0"/>
          <p:nvPr/>
        </p:nvPicPr>
        <p:blipFill rotWithShape="1">
          <a:blip r:embed="rId4">
            <a:alphaModFix/>
          </a:blip>
          <a:srcRect l="12883" t="3299" r="17699"/>
          <a:stretch/>
        </p:blipFill>
        <p:spPr>
          <a:xfrm>
            <a:off x="8976133" y="-1628078"/>
            <a:ext cx="10511784" cy="10164381"/>
          </a:xfrm>
          <a:custGeom>
            <a:avLst/>
            <a:gdLst/>
            <a:ahLst/>
            <a:cxnLst/>
            <a:rect l="l" t="t" r="r" b="b"/>
            <a:pathLst>
              <a:path w="19679" h="21600" extrusionOk="0">
                <a:moveTo>
                  <a:pt x="9839" y="0"/>
                </a:moveTo>
                <a:cubicBezTo>
                  <a:pt x="7321" y="0"/>
                  <a:pt x="4803" y="1054"/>
                  <a:pt x="2882" y="3163"/>
                </a:cubicBezTo>
                <a:cubicBezTo>
                  <a:pt x="-961" y="7381"/>
                  <a:pt x="-961" y="14219"/>
                  <a:pt x="2882" y="18437"/>
                </a:cubicBezTo>
                <a:cubicBezTo>
                  <a:pt x="4803" y="20546"/>
                  <a:pt x="7321" y="21600"/>
                  <a:pt x="9839" y="21600"/>
                </a:cubicBezTo>
                <a:cubicBezTo>
                  <a:pt x="12357" y="21600"/>
                  <a:pt x="14875" y="20546"/>
                  <a:pt x="16796" y="18437"/>
                </a:cubicBezTo>
                <a:cubicBezTo>
                  <a:pt x="20639" y="14219"/>
                  <a:pt x="20639" y="7381"/>
                  <a:pt x="16796" y="3163"/>
                </a:cubicBezTo>
                <a:cubicBezTo>
                  <a:pt x="14875" y="1054"/>
                  <a:pt x="12357" y="0"/>
                  <a:pt x="9839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563" name="Google Shape;563;p2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425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2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19200" y="0"/>
            <a:ext cx="381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26"/>
          <p:cNvSpPr/>
          <p:nvPr/>
        </p:nvSpPr>
        <p:spPr>
          <a:xfrm>
            <a:off x="1628775" y="6677322"/>
            <a:ext cx="10123170" cy="277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Расчет количества к заказу для последнего заказа в акции</a:t>
            </a:r>
            <a:endParaRPr sz="600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13608575" y="9262900"/>
            <a:ext cx="45603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ABM Inventory</a:t>
            </a:r>
            <a:endParaRPr sz="4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8625" y="2443883"/>
            <a:ext cx="13731702" cy="361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06795" y="3648958"/>
            <a:ext cx="613552" cy="12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2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06798" y="4854033"/>
            <a:ext cx="613552" cy="12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2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7"/>
          <p:cNvSpPr/>
          <p:nvPr/>
        </p:nvSpPr>
        <p:spPr>
          <a:xfrm>
            <a:off x="1385875" y="578650"/>
            <a:ext cx="15813553" cy="21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Arial"/>
                <a:ea typeface="Arial"/>
                <a:cs typeface="Arial"/>
                <a:sym typeface="Arial"/>
              </a:rPr>
              <a:t>Расчет буфера для последнего заказа в акции </a:t>
            </a:r>
            <a:endParaRPr sz="4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2665508" y="2581626"/>
            <a:ext cx="12145200" cy="9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max( MOQ, ADU_P*(Дата завершения акции –Дата текущего заказа) + 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Char char="+"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ADU*(Дата прихода след. заказа – Дата завершения акции))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2665508" y="3884216"/>
            <a:ext cx="115194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max((ADU + deviation), </a:t>
            </a:r>
            <a:endParaRPr sz="25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(ADU + deviation)*LN((DOC+DLT)+1)*VF)</a:t>
            </a:r>
            <a:endParaRPr sz="25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2665508" y="5055170"/>
            <a:ext cx="121452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coef_kvi * (ADU + deviation)</a:t>
            </a:r>
            <a:endParaRPr sz="25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coef_basic * (ADU + deviation)</a:t>
            </a:r>
            <a:endParaRPr sz="25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80" name="Google Shape;580;p27"/>
          <p:cNvCxnSpPr>
            <a:endCxn id="581" idx="3"/>
          </p:cNvCxnSpPr>
          <p:nvPr/>
        </p:nvCxnSpPr>
        <p:spPr>
          <a:xfrm rot="10800000" flipH="1">
            <a:off x="4240528" y="8230300"/>
            <a:ext cx="9729000" cy="14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2" name="Google Shape;582;p27"/>
          <p:cNvSpPr txBox="1"/>
          <p:nvPr/>
        </p:nvSpPr>
        <p:spPr>
          <a:xfrm>
            <a:off x="3598057" y="6944766"/>
            <a:ext cx="14181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текущего заказа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4168720" y="8081617"/>
            <a:ext cx="276618" cy="358085"/>
          </a:xfrm>
          <a:prstGeom prst="flowChartExtra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11111931" y="8051258"/>
            <a:ext cx="276618" cy="358085"/>
          </a:xfrm>
          <a:prstGeom prst="flowChartExtra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7"/>
          <p:cNvSpPr txBox="1"/>
          <p:nvPr/>
        </p:nvSpPr>
        <p:spPr>
          <a:xfrm>
            <a:off x="10342280" y="6944766"/>
            <a:ext cx="17475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следующего заказа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6687906" y="8081617"/>
            <a:ext cx="276618" cy="358085"/>
          </a:xfrm>
          <a:prstGeom prst="flowChartMerg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7"/>
          <p:cNvSpPr txBox="1"/>
          <p:nvPr/>
        </p:nvSpPr>
        <p:spPr>
          <a:xfrm>
            <a:off x="8147352" y="6944766"/>
            <a:ext cx="17475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завершения акции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27"/>
          <p:cNvSpPr txBox="1"/>
          <p:nvPr/>
        </p:nvSpPr>
        <p:spPr>
          <a:xfrm>
            <a:off x="13060424" y="6944750"/>
            <a:ext cx="1629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прихода след. заказа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1" name="Google Shape;581;p27"/>
          <p:cNvSpPr/>
          <p:nvPr/>
        </p:nvSpPr>
        <p:spPr>
          <a:xfrm>
            <a:off x="13762064" y="8051258"/>
            <a:ext cx="276618" cy="358085"/>
          </a:xfrm>
          <a:prstGeom prst="flowChartMerg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7"/>
          <p:cNvSpPr txBox="1"/>
          <p:nvPr/>
        </p:nvSpPr>
        <p:spPr>
          <a:xfrm>
            <a:off x="5952475" y="6999740"/>
            <a:ext cx="17475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 поставки текущего заказа</a:t>
            </a:r>
            <a:endParaRPr sz="15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27"/>
          <p:cNvSpPr/>
          <p:nvPr/>
        </p:nvSpPr>
        <p:spPr>
          <a:xfrm flipH="1">
            <a:off x="8882808" y="8081617"/>
            <a:ext cx="276618" cy="358085"/>
          </a:xfrm>
          <a:prstGeom prst="flowChartCollat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7"/>
          <p:cNvSpPr/>
          <p:nvPr/>
        </p:nvSpPr>
        <p:spPr>
          <a:xfrm rot="8341362">
            <a:off x="3332405" y="2771851"/>
            <a:ext cx="6730641" cy="6552805"/>
          </a:xfrm>
          <a:prstGeom prst="arc">
            <a:avLst>
              <a:gd name="adj1" fmla="val 15969193"/>
              <a:gd name="adj2" fmla="val 21454219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7"/>
          <p:cNvSpPr/>
          <p:nvPr/>
        </p:nvSpPr>
        <p:spPr>
          <a:xfrm rot="7840817">
            <a:off x="7848307" y="2162109"/>
            <a:ext cx="6927451" cy="7158635"/>
          </a:xfrm>
          <a:prstGeom prst="arc">
            <a:avLst>
              <a:gd name="adj1" fmla="val 16200000"/>
              <a:gd name="adj2" fmla="val 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3930" y="4191419"/>
            <a:ext cx="8187867" cy="584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4125" y="4897247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8"/>
          <p:cNvSpPr/>
          <p:nvPr/>
        </p:nvSpPr>
        <p:spPr>
          <a:xfrm>
            <a:off x="1828800" y="556350"/>
            <a:ext cx="15064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потребности для последнего заказа в акции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1" name="Google Shape;601;p2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8800" y="2293474"/>
            <a:ext cx="15559999" cy="1713443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8"/>
          <p:cNvSpPr/>
          <p:nvPr/>
        </p:nvSpPr>
        <p:spPr>
          <a:xfrm>
            <a:off x="1984917" y="2477975"/>
            <a:ext cx="15280928" cy="155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3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 = ADU_Р * (Дата завершения акции – Дата текущего заказа) + ADU * (Дата прихода след.заказа – Дата завершения акции) + </a:t>
            </a:r>
            <a:br>
              <a:rPr lang="en-US" sz="3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КраснаяЗона+ЖелтаяЗона+Буфер безопасности+Р</a:t>
            </a:r>
            <a:r>
              <a:rPr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езерв</a:t>
            </a:r>
            <a:r>
              <a:rPr lang="en-US" sz="3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+ЕЗ–Остаток–В пути</a:t>
            </a:r>
            <a:endParaRPr sz="31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4" name="Google Shape;604;p2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67001" y="7825125"/>
            <a:ext cx="77343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76475" y="8529975"/>
            <a:ext cx="69151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6475" y="9234825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8"/>
          <p:cNvSpPr/>
          <p:nvPr/>
        </p:nvSpPr>
        <p:spPr>
          <a:xfrm>
            <a:off x="2230950" y="5146919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ADU_Р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3867150" y="4823399"/>
            <a:ext cx="5924700" cy="9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Прогнозируемая на основании настроек акции средняя продажа \ рассчитанная средняя продажа в акции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2230950" y="6229525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8"/>
          <p:cNvSpPr/>
          <p:nvPr/>
        </p:nvSpPr>
        <p:spPr>
          <a:xfrm>
            <a:off x="3867150" y="6072525"/>
            <a:ext cx="6019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Разница между днем поставки следующего регулярного заказа и днем поставки текущего заказа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8"/>
          <p:cNvSpPr/>
          <p:nvPr/>
        </p:nvSpPr>
        <p:spPr>
          <a:xfrm>
            <a:off x="3857625" y="8072775"/>
            <a:ext cx="42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Остаток на вечер вчерашнего дня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28"/>
          <p:cNvSpPr/>
          <p:nvPr/>
        </p:nvSpPr>
        <p:spPr>
          <a:xfrm>
            <a:off x="2224125" y="8048950"/>
            <a:ext cx="19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Остаток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2224125" y="8777625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ЕЗ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28"/>
          <p:cNvSpPr/>
          <p:nvPr/>
        </p:nvSpPr>
        <p:spPr>
          <a:xfrm>
            <a:off x="3867150" y="8777625"/>
            <a:ext cx="2676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Единоразовый заказ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28"/>
          <p:cNvSpPr/>
          <p:nvPr/>
        </p:nvSpPr>
        <p:spPr>
          <a:xfrm>
            <a:off x="2230950" y="9506300"/>
            <a:ext cx="143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</a:t>
            </a:r>
            <a:r>
              <a:rPr lang="en-US" sz="1800" b="1">
                <a:latin typeface="Montserrat"/>
                <a:ea typeface="Montserrat"/>
                <a:cs typeface="Montserrat"/>
                <a:sym typeface="Montserrat"/>
              </a:rPr>
              <a:t>езерв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6" name="Google Shape;616;p28"/>
          <p:cNvSpPr/>
          <p:nvPr/>
        </p:nvSpPr>
        <p:spPr>
          <a:xfrm>
            <a:off x="3867150" y="9482475"/>
            <a:ext cx="601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Зарезервированное количество под покупателя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7" name="Google Shape;617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52721" y="7072650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8"/>
          <p:cNvSpPr/>
          <p:nvPr/>
        </p:nvSpPr>
        <p:spPr>
          <a:xfrm>
            <a:off x="2230950" y="737975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DLT</a:t>
            </a:r>
            <a:endParaRPr sz="1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28"/>
          <p:cNvSpPr/>
          <p:nvPr/>
        </p:nvSpPr>
        <p:spPr>
          <a:xfrm>
            <a:off x="3867150" y="7320300"/>
            <a:ext cx="601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Время на поставку текущего заказа</a:t>
            </a:r>
            <a:endParaRPr sz="18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0" name="Google Shape;620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4125" y="6090139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8"/>
          <p:cNvSpPr/>
          <p:nvPr/>
        </p:nvSpPr>
        <p:spPr>
          <a:xfrm>
            <a:off x="2219325" y="4331536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ADU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2" name="Google Shape;622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4125" y="4113959"/>
            <a:ext cx="83248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8"/>
          <p:cNvSpPr/>
          <p:nvPr/>
        </p:nvSpPr>
        <p:spPr>
          <a:xfrm>
            <a:off x="3831027" y="4313555"/>
            <a:ext cx="47564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Среднесуточное потребление товара</a:t>
            </a:r>
            <a:endParaRPr sz="18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4" name="Google Shape;624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5000" y="4711778"/>
            <a:ext cx="6568398" cy="24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8"/>
          <p:cNvSpPr/>
          <p:nvPr/>
        </p:nvSpPr>
        <p:spPr>
          <a:xfrm>
            <a:off x="10761250" y="4810125"/>
            <a:ext cx="6153300" cy="2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Рассчитанное количество чистой потребности сравниваем со значениями MOQ и с прогнозируемым потреблением за время выполнения текущего заказа с учетом количества в пути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12110720" y="7726300"/>
            <a:ext cx="3741900" cy="8430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8"/>
          <p:cNvSpPr/>
          <p:nvPr/>
        </p:nvSpPr>
        <p:spPr>
          <a:xfrm>
            <a:off x="11941445" y="8727790"/>
            <a:ext cx="1965600" cy="12045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14058250" y="8715349"/>
            <a:ext cx="1995000" cy="1179300"/>
          </a:xfrm>
          <a:prstGeom prst="roundRect">
            <a:avLst>
              <a:gd name="adj" fmla="val 16667"/>
            </a:avLst>
          </a:prstGeom>
          <a:solidFill>
            <a:srgbClr val="F9F9FC"/>
          </a:solidFill>
          <a:ln w="25400" cap="flat" cmpd="sng">
            <a:solidFill>
              <a:srgbClr val="C0BB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12579591" y="7915391"/>
            <a:ext cx="2804100" cy="464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</a:t>
            </a:r>
            <a:endParaRPr sz="2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12480394" y="9099217"/>
            <a:ext cx="1097100" cy="461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14105800" y="9126227"/>
            <a:ext cx="1899900" cy="461700"/>
          </a:xfrm>
          <a:prstGeom prst="rect">
            <a:avLst/>
          </a:prstGeom>
          <a:solidFill>
            <a:srgbClr val="F9F9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ADU * DLT</a:t>
            </a:r>
            <a:endParaRPr sz="14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fbaea27394_0_60"/>
          <p:cNvSpPr/>
          <p:nvPr/>
        </p:nvSpPr>
        <p:spPr>
          <a:xfrm>
            <a:off x="1828800" y="564400"/>
            <a:ext cx="15559800" cy="13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Количество к заказу для последнего заказа </a:t>
            </a:r>
            <a:b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в акции 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8" name="Google Shape;638;gfbaea27394_0_6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9" name="Google Shape;639;gfbaea27394_0_60"/>
          <p:cNvGraphicFramePr/>
          <p:nvPr/>
        </p:nvGraphicFramePr>
        <p:xfrm>
          <a:off x="1828586" y="21222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{9A3F9CF1-2FF3-4C31-9C02-1106139F315C}</a:tableStyleId>
              </a:tblPr>
              <a:tblGrid>
                <a:gridCol w="115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Потребность для последнего заказа в акции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MOQ</a:t>
                      </a:r>
                      <a:endParaRPr sz="2400" u="none" strike="noStrike" cap="none"/>
                    </a:p>
                  </a:txBody>
                  <a:tcPr marL="91425" marR="91425" marT="91425" marB="91425">
                    <a:lnL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ADU_Р * (min(Дата прихода текущего заказа, Дата завершения акции)- </a:t>
                      </a:r>
                      <a:b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Дата текущего заказа) + ADU * (Дата прихода текущего заказа - </a:t>
                      </a:r>
                      <a:b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min(Дата прихода текущего заказа , Дата завершения акции) 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b="1" u="sng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Остаток + В пути</a:t>
                      </a:r>
                      <a:endParaRPr sz="2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0" name="Google Shape;640;gfbaea27394_0_60"/>
          <p:cNvSpPr/>
          <p:nvPr/>
        </p:nvSpPr>
        <p:spPr>
          <a:xfrm rot="6884583">
            <a:off x="6035741" y="4342080"/>
            <a:ext cx="2544501" cy="2502616"/>
          </a:xfrm>
          <a:prstGeom prst="arc">
            <a:avLst>
              <a:gd name="adj1" fmla="val 17349917"/>
              <a:gd name="adj2" fmla="val 2304028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fbaea27394_0_60"/>
          <p:cNvSpPr/>
          <p:nvPr/>
        </p:nvSpPr>
        <p:spPr>
          <a:xfrm rot="10388214">
            <a:off x="7840682" y="5078347"/>
            <a:ext cx="1611749" cy="1499931"/>
          </a:xfrm>
          <a:prstGeom prst="arc">
            <a:avLst>
              <a:gd name="adj1" fmla="val 12658461"/>
              <a:gd name="adj2" fmla="val 20900421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2" name="Google Shape;642;gfbaea27394_0_60"/>
          <p:cNvGrpSpPr/>
          <p:nvPr/>
        </p:nvGrpSpPr>
        <p:grpSpPr>
          <a:xfrm>
            <a:off x="5571999" y="4826358"/>
            <a:ext cx="7481400" cy="1639722"/>
            <a:chOff x="8774985" y="4792323"/>
            <a:chExt cx="4910344" cy="1639722"/>
          </a:xfrm>
        </p:grpSpPr>
        <p:cxnSp>
          <p:nvCxnSpPr>
            <p:cNvPr id="643" name="Google Shape;643;gfbaea27394_0_60"/>
            <p:cNvCxnSpPr/>
            <p:nvPr/>
          </p:nvCxnSpPr>
          <p:spPr>
            <a:xfrm rot="10800000" flipH="1">
              <a:off x="9151139" y="6024283"/>
              <a:ext cx="4335000" cy="8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44" name="Google Shape;644;gfbaea27394_0_60"/>
            <p:cNvSpPr txBox="1"/>
            <p:nvPr/>
          </p:nvSpPr>
          <p:spPr>
            <a:xfrm>
              <a:off x="8774985" y="4947123"/>
              <a:ext cx="813900" cy="8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Дата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текущего заказа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fbaea27394_0_60"/>
            <p:cNvSpPr/>
            <p:nvPr/>
          </p:nvSpPr>
          <p:spPr>
            <a:xfrm>
              <a:off x="9119418" y="5939806"/>
              <a:ext cx="123247" cy="203450"/>
            </a:xfrm>
            <a:prstGeom prst="flowChartExtra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gfbaea27394_0_60"/>
            <p:cNvSpPr/>
            <p:nvPr/>
          </p:nvSpPr>
          <p:spPr>
            <a:xfrm>
              <a:off x="12212945" y="5922558"/>
              <a:ext cx="123247" cy="203450"/>
            </a:xfrm>
            <a:prstGeom prst="flowChartExtra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fbaea27394_0_60"/>
            <p:cNvSpPr/>
            <p:nvPr/>
          </p:nvSpPr>
          <p:spPr>
            <a:xfrm>
              <a:off x="10241834" y="5939806"/>
              <a:ext cx="123247" cy="203450"/>
            </a:xfrm>
            <a:prstGeom prst="flowChartMerg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fbaea27394_0_60"/>
            <p:cNvSpPr txBox="1"/>
            <p:nvPr/>
          </p:nvSpPr>
          <p:spPr>
            <a:xfrm>
              <a:off x="10857832" y="4947123"/>
              <a:ext cx="847200" cy="8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Дата заверш. акции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fbaea27394_0_60"/>
            <p:cNvSpPr txBox="1"/>
            <p:nvPr/>
          </p:nvSpPr>
          <p:spPr>
            <a:xfrm>
              <a:off x="12858529" y="4792323"/>
              <a:ext cx="8268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Дата прихода след. заказа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gfbaea27394_0_60"/>
            <p:cNvSpPr/>
            <p:nvPr/>
          </p:nvSpPr>
          <p:spPr>
            <a:xfrm>
              <a:off x="13393705" y="5922558"/>
              <a:ext cx="123247" cy="203450"/>
            </a:xfrm>
            <a:prstGeom prst="flowChartMerge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fbaea27394_0_60"/>
            <p:cNvSpPr/>
            <p:nvPr/>
          </p:nvSpPr>
          <p:spPr>
            <a:xfrm flipH="1">
              <a:off x="11219766" y="5939806"/>
              <a:ext cx="123247" cy="203450"/>
            </a:xfrm>
            <a:prstGeom prst="flowChartCollat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fbaea27394_0_60"/>
            <p:cNvSpPr txBox="1"/>
            <p:nvPr/>
          </p:nvSpPr>
          <p:spPr>
            <a:xfrm>
              <a:off x="9851218" y="4857402"/>
              <a:ext cx="9042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Дата прихода текущего заказа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fbaea27394_0_60"/>
            <p:cNvSpPr txBox="1"/>
            <p:nvPr/>
          </p:nvSpPr>
          <p:spPr>
            <a:xfrm>
              <a:off x="11514968" y="4947123"/>
              <a:ext cx="1519200" cy="8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Дата 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след. 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заказа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fbaea27394_0_60"/>
            <p:cNvSpPr txBox="1"/>
            <p:nvPr/>
          </p:nvSpPr>
          <p:spPr>
            <a:xfrm>
              <a:off x="10023236" y="6016545"/>
              <a:ext cx="1519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55" name="Google Shape;655;gfbaea27394_0_6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700" y="7353880"/>
            <a:ext cx="15559799" cy="2132245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gfbaea27394_0_60"/>
          <p:cNvSpPr/>
          <p:nvPr/>
        </p:nvSpPr>
        <p:spPr>
          <a:xfrm>
            <a:off x="2260200" y="7680350"/>
            <a:ext cx="14261100" cy="16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Заказ= (ADU_P * (Дата завершения акции – Дата текущего заказа) + ADU * (Дата прихода след.заказа – Дата завершения акции) + КраснаяЗона + ЖелтаяЗона + Буфер безопасности + Резерв</a:t>
            </a:r>
            <a:r>
              <a:rPr lang="en-US" sz="2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 ЕЗ – Остаток – В пути</a:t>
            </a:r>
            <a:endParaRPr sz="2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fbaea27394_0_84"/>
          <p:cNvSpPr/>
          <p:nvPr/>
        </p:nvSpPr>
        <p:spPr>
          <a:xfrm>
            <a:off x="1828800" y="564400"/>
            <a:ext cx="15559800" cy="13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Количество к заказу для последнего заказа </a:t>
            </a:r>
            <a:b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в акции 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3" name="Google Shape;663;gfbaea27394_0_8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4" name="Google Shape;664;gfbaea27394_0_84"/>
          <p:cNvGraphicFramePr/>
          <p:nvPr/>
        </p:nvGraphicFramePr>
        <p:xfrm>
          <a:off x="1828586" y="21222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{9A3F9CF1-2FF3-4C31-9C02-1106139F315C}</a:tableStyleId>
              </a:tblPr>
              <a:tblGrid>
                <a:gridCol w="115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Потребность для последнего заказа в акции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MOQ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ADU_Р * (min(Дата прихода текущего заказа, Дата завершения акции)- </a:t>
                      </a:r>
                      <a:b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Дата текущего заказа) + ADU * (Дата прихода текущего заказа - </a:t>
                      </a:r>
                      <a:b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min(Дата прихода текущего заказа , Дата завершения акции) 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b="1" u="sng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Остаток + В пути</a:t>
                      </a:r>
                      <a:endParaRPr sz="24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B91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65" name="Google Shape;665;gfbaea27394_0_8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700" y="7353880"/>
            <a:ext cx="15559799" cy="2132245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gfbaea27394_0_84"/>
          <p:cNvSpPr/>
          <p:nvPr/>
        </p:nvSpPr>
        <p:spPr>
          <a:xfrm>
            <a:off x="2165700" y="7462800"/>
            <a:ext cx="14862900" cy="18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ADU_Р * (max(0, Дата завершения акции - Дата прихода текущего заказа) + ADU * (Дата прихода текущего заказа - max(Дата прихода текущего заказа , Дата завершения акции) ) + (КраснаяЗона + ЖелтаяЗона) * DOC / (DOC+DLT) + Буфер безопасности + Р</a:t>
            </a:r>
            <a:r>
              <a:rPr lang="en-US" sz="2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езерв</a:t>
            </a:r>
            <a:r>
              <a:rPr lang="en-US" sz="2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+ ЕЗ</a:t>
            </a:r>
            <a:endParaRPr sz="2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gfbaea27394_0_84"/>
          <p:cNvSpPr/>
          <p:nvPr/>
        </p:nvSpPr>
        <p:spPr>
          <a:xfrm rot="10388214">
            <a:off x="7840682" y="5078347"/>
            <a:ext cx="1611749" cy="1499931"/>
          </a:xfrm>
          <a:prstGeom prst="arc">
            <a:avLst>
              <a:gd name="adj1" fmla="val 12658461"/>
              <a:gd name="adj2" fmla="val 20900421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8" name="Google Shape;668;gfbaea27394_0_84"/>
          <p:cNvGrpSpPr/>
          <p:nvPr/>
        </p:nvGrpSpPr>
        <p:grpSpPr>
          <a:xfrm>
            <a:off x="5571999" y="4826358"/>
            <a:ext cx="7481400" cy="1639722"/>
            <a:chOff x="8774985" y="4792323"/>
            <a:chExt cx="4910344" cy="1639722"/>
          </a:xfrm>
        </p:grpSpPr>
        <p:cxnSp>
          <p:nvCxnSpPr>
            <p:cNvPr id="669" name="Google Shape;669;gfbaea27394_0_84"/>
            <p:cNvCxnSpPr/>
            <p:nvPr/>
          </p:nvCxnSpPr>
          <p:spPr>
            <a:xfrm rot="10800000" flipH="1">
              <a:off x="9151139" y="6024283"/>
              <a:ext cx="4335000" cy="8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0" name="Google Shape;670;gfbaea27394_0_84"/>
            <p:cNvSpPr txBox="1"/>
            <p:nvPr/>
          </p:nvSpPr>
          <p:spPr>
            <a:xfrm>
              <a:off x="8774985" y="4947123"/>
              <a:ext cx="813900" cy="8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Дата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текущего заказа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fbaea27394_0_84"/>
            <p:cNvSpPr/>
            <p:nvPr/>
          </p:nvSpPr>
          <p:spPr>
            <a:xfrm>
              <a:off x="9119418" y="5939806"/>
              <a:ext cx="123247" cy="203450"/>
            </a:xfrm>
            <a:prstGeom prst="flowChartExtra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fbaea27394_0_84"/>
            <p:cNvSpPr/>
            <p:nvPr/>
          </p:nvSpPr>
          <p:spPr>
            <a:xfrm>
              <a:off x="12212945" y="5922558"/>
              <a:ext cx="123247" cy="203450"/>
            </a:xfrm>
            <a:prstGeom prst="flowChartExtra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fbaea27394_0_84"/>
            <p:cNvSpPr/>
            <p:nvPr/>
          </p:nvSpPr>
          <p:spPr>
            <a:xfrm>
              <a:off x="10241834" y="5939806"/>
              <a:ext cx="123247" cy="203450"/>
            </a:xfrm>
            <a:prstGeom prst="flowChartMerg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fbaea27394_0_84"/>
            <p:cNvSpPr txBox="1"/>
            <p:nvPr/>
          </p:nvSpPr>
          <p:spPr>
            <a:xfrm>
              <a:off x="10857832" y="4947123"/>
              <a:ext cx="847200" cy="8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Дата заверш. акции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fbaea27394_0_84"/>
            <p:cNvSpPr txBox="1"/>
            <p:nvPr/>
          </p:nvSpPr>
          <p:spPr>
            <a:xfrm>
              <a:off x="12858529" y="4792323"/>
              <a:ext cx="8268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Дата прихода след. заказа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fbaea27394_0_84"/>
            <p:cNvSpPr/>
            <p:nvPr/>
          </p:nvSpPr>
          <p:spPr>
            <a:xfrm>
              <a:off x="13393705" y="5922558"/>
              <a:ext cx="123247" cy="203450"/>
            </a:xfrm>
            <a:prstGeom prst="flowChartMerge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fbaea27394_0_84"/>
            <p:cNvSpPr/>
            <p:nvPr/>
          </p:nvSpPr>
          <p:spPr>
            <a:xfrm flipH="1">
              <a:off x="11219766" y="5939806"/>
              <a:ext cx="123247" cy="203450"/>
            </a:xfrm>
            <a:prstGeom prst="flowChartCollat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fbaea27394_0_84"/>
            <p:cNvSpPr txBox="1"/>
            <p:nvPr/>
          </p:nvSpPr>
          <p:spPr>
            <a:xfrm>
              <a:off x="9851218" y="4857402"/>
              <a:ext cx="9042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Дата прихода текущего заказа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fbaea27394_0_84"/>
            <p:cNvSpPr txBox="1"/>
            <p:nvPr/>
          </p:nvSpPr>
          <p:spPr>
            <a:xfrm>
              <a:off x="11514968" y="4947123"/>
              <a:ext cx="1519200" cy="8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Дата 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след. 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заказа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fbaea27394_0_84"/>
            <p:cNvSpPr txBox="1"/>
            <p:nvPr/>
          </p:nvSpPr>
          <p:spPr>
            <a:xfrm>
              <a:off x="10023236" y="6016545"/>
              <a:ext cx="1519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1" name="Google Shape;681;gfbaea27394_0_84"/>
          <p:cNvSpPr/>
          <p:nvPr/>
        </p:nvSpPr>
        <p:spPr>
          <a:xfrm rot="6884583">
            <a:off x="6035741" y="4342080"/>
            <a:ext cx="2544501" cy="2502616"/>
          </a:xfrm>
          <a:prstGeom prst="arc">
            <a:avLst>
              <a:gd name="adj1" fmla="val 17350835"/>
              <a:gd name="adj2" fmla="val 2304028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ged13542388_0_9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5375" y="7138420"/>
            <a:ext cx="6913201" cy="139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ged13542388_0_9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ged13542388_0_94"/>
          <p:cNvSpPr/>
          <p:nvPr/>
        </p:nvSpPr>
        <p:spPr>
          <a:xfrm>
            <a:off x="9329424" y="7623461"/>
            <a:ext cx="68037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MOQ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0" name="Google Shape;690;ged13542388_0_94"/>
          <p:cNvSpPr txBox="1"/>
          <p:nvPr/>
        </p:nvSpPr>
        <p:spPr>
          <a:xfrm>
            <a:off x="1828800" y="2303450"/>
            <a:ext cx="122112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     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 для последнего заказа в акции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≤ 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Количество к заказу рассчитывается с учетом настройки: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1" name="Google Shape;691;ged13542388_0_9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6900" y="7138420"/>
            <a:ext cx="6913201" cy="13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ged13542388_0_94"/>
          <p:cNvSpPr/>
          <p:nvPr/>
        </p:nvSpPr>
        <p:spPr>
          <a:xfrm>
            <a:off x="1896899" y="7623461"/>
            <a:ext cx="68037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Заказ = </a:t>
            </a: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3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3" name="Google Shape;693;ged13542388_0_94"/>
          <p:cNvSpPr txBox="1"/>
          <p:nvPr/>
        </p:nvSpPr>
        <p:spPr>
          <a:xfrm>
            <a:off x="2381700" y="5398475"/>
            <a:ext cx="5943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отребность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для последнего заказа в акции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≤ 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Порог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4" name="Google Shape;694;ged13542388_0_94"/>
          <p:cNvSpPr/>
          <p:nvPr/>
        </p:nvSpPr>
        <p:spPr>
          <a:xfrm>
            <a:off x="1997700" y="3920100"/>
            <a:ext cx="15030900" cy="742800"/>
          </a:xfrm>
          <a:prstGeom prst="rect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*Заказывать если потребность больше MOQ x Порог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(= 0 (по умолчанию), 0,1; 0,2; 0,3; 0,4; 0,5)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5" name="Google Shape;695;ged13542388_0_94"/>
          <p:cNvSpPr txBox="1"/>
          <p:nvPr/>
        </p:nvSpPr>
        <p:spPr>
          <a:xfrm>
            <a:off x="9830175" y="5398463"/>
            <a:ext cx="5943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отребность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для последнего заказа в акции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30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r>
              <a:rPr lang="en-US"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-US"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MOQ x Порог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6" name="Google Shape;696;ged13542388_0_94"/>
          <p:cNvSpPr/>
          <p:nvPr/>
        </p:nvSpPr>
        <p:spPr>
          <a:xfrm>
            <a:off x="1828800" y="564400"/>
            <a:ext cx="15559800" cy="13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Количество к заказу для последнего заказа </a:t>
            </a:r>
            <a:b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в акции 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g113a6e5e8d9_3_4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" y="342900"/>
            <a:ext cx="495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g113a6e5e8d9_3_42"/>
          <p:cNvSpPr/>
          <p:nvPr/>
        </p:nvSpPr>
        <p:spPr>
          <a:xfrm>
            <a:off x="1828800" y="556375"/>
            <a:ext cx="135684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Расчет </a:t>
            </a:r>
            <a:r>
              <a:rPr lang="en-US" sz="4800" b="1">
                <a:solidFill>
                  <a:srgbClr val="392EC9"/>
                </a:solidFill>
                <a:latin typeface="Montserrat"/>
                <a:ea typeface="Montserrat"/>
                <a:cs typeface="Montserrat"/>
                <a:sym typeface="Montserrat"/>
              </a:rPr>
              <a:t>окончательного буфера</a:t>
            </a:r>
            <a:endParaRPr sz="48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3" name="Google Shape;703;g113a6e5e8d9_3_42"/>
          <p:cNvSpPr txBox="1"/>
          <p:nvPr/>
        </p:nvSpPr>
        <p:spPr>
          <a:xfrm>
            <a:off x="1828800" y="1617650"/>
            <a:ext cx="14368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После расчета количества к заказу рассчитывается окончательный буфер, который отображается на графике SKU.</a:t>
            </a:r>
            <a:endParaRPr sz="2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4" name="Google Shape;704;g113a6e5e8d9_3_4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5408600"/>
            <a:ext cx="14501525" cy="9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g113a6e5e8d9_3_4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1" y="2840350"/>
            <a:ext cx="14501525" cy="9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g113a6e5e8d9_3_42"/>
          <p:cNvSpPr/>
          <p:nvPr/>
        </p:nvSpPr>
        <p:spPr>
          <a:xfrm>
            <a:off x="1921351" y="3065925"/>
            <a:ext cx="14075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количество К заказу &gt; 0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113a6e5e8d9_3_42"/>
          <p:cNvSpPr/>
          <p:nvPr/>
        </p:nvSpPr>
        <p:spPr>
          <a:xfrm>
            <a:off x="1921352" y="5651488"/>
            <a:ext cx="100971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количество К заказу =0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8" name="Google Shape;708;g113a6e5e8d9_3_4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799" y="4173175"/>
            <a:ext cx="14501523" cy="8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g113a6e5e8d9_3_42"/>
          <p:cNvSpPr/>
          <p:nvPr/>
        </p:nvSpPr>
        <p:spPr>
          <a:xfrm>
            <a:off x="2063240" y="4310260"/>
            <a:ext cx="140571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Буфер = Заказ + Остаток + В пути - ЕЗ - Резерв - ББ</a:t>
            </a:r>
            <a:endParaRPr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0" name="Google Shape;710;g113a6e5e8d9_3_42" descr="preencoded.png"/>
          <p:cNvPicPr preferRelativeResize="0"/>
          <p:nvPr/>
        </p:nvPicPr>
        <p:blipFill rotWithShape="1">
          <a:blip r:embed="rId6">
            <a:alphaModFix/>
          </a:blip>
          <a:srcRect l="19021" b="13718"/>
          <a:stretch/>
        </p:blipFill>
        <p:spPr>
          <a:xfrm>
            <a:off x="-4" y="7057598"/>
            <a:ext cx="3094559" cy="32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g113a6e5e8d9_3_4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1828799" y="6741425"/>
            <a:ext cx="14501523" cy="8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g113a6e5e8d9_3_42"/>
          <p:cNvSpPr/>
          <p:nvPr/>
        </p:nvSpPr>
        <p:spPr>
          <a:xfrm>
            <a:off x="2063240" y="6878510"/>
            <a:ext cx="140571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Буфер = Остаток + В пути - ЕЗ - Резерв - ББ</a:t>
            </a:r>
            <a:endParaRPr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2EC9"/>
        </a:solidFill>
        <a:effectLst/>
      </p:bgPr>
    </p:bg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425" y="342900"/>
            <a:ext cx="4762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3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" y="0"/>
            <a:ext cx="381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3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58350" y="3219450"/>
            <a:ext cx="8629650" cy="706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3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76425" y="6953250"/>
            <a:ext cx="6667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3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95475" y="7715250"/>
            <a:ext cx="6477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3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24050" y="8543925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32"/>
          <p:cNvSpPr/>
          <p:nvPr/>
        </p:nvSpPr>
        <p:spPr>
          <a:xfrm>
            <a:off x="1914525" y="1657350"/>
            <a:ext cx="81915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Спасибо</a:t>
            </a:r>
            <a:br>
              <a:rPr lang="en-US" sz="9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9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 внимание</a:t>
            </a:r>
            <a:endParaRPr sz="9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5" name="Google Shape;725;p32"/>
          <p:cNvSpPr/>
          <p:nvPr/>
        </p:nvSpPr>
        <p:spPr>
          <a:xfrm>
            <a:off x="2705100" y="7038975"/>
            <a:ext cx="43338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(044) 537-74-11</a:t>
            </a:r>
            <a:endParaRPr sz="27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6" name="Google Shape;726;p32"/>
          <p:cNvSpPr/>
          <p:nvPr/>
        </p:nvSpPr>
        <p:spPr>
          <a:xfrm>
            <a:off x="2705100" y="7781925"/>
            <a:ext cx="43338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sales@abm.com.ua</a:t>
            </a:r>
            <a:endParaRPr sz="27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7" name="Google Shape;727;p32"/>
          <p:cNvSpPr/>
          <p:nvPr/>
        </p:nvSpPr>
        <p:spPr>
          <a:xfrm>
            <a:off x="2705100" y="8620125"/>
            <a:ext cx="43338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abmcloud.com</a:t>
            </a:r>
            <a:endParaRPr sz="27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BM Cloud">
      <a:dk1>
        <a:srgbClr val="000000"/>
      </a:dk1>
      <a:lt1>
        <a:srgbClr val="FFFFFF"/>
      </a:lt1>
      <a:dk2>
        <a:srgbClr val="3823CC"/>
      </a:dk2>
      <a:lt2>
        <a:srgbClr val="F1004C"/>
      </a:lt2>
      <a:accent1>
        <a:srgbClr val="6B5EEB"/>
      </a:accent1>
      <a:accent2>
        <a:srgbClr val="FB5F91"/>
      </a:accent2>
      <a:accent3>
        <a:srgbClr val="7EC4F8"/>
      </a:accent3>
      <a:accent4>
        <a:srgbClr val="39415B"/>
      </a:accent4>
      <a:accent5>
        <a:srgbClr val="FE9DBD"/>
      </a:accent5>
      <a:accent6>
        <a:srgbClr val="9891E5"/>
      </a:accent6>
      <a:hlink>
        <a:srgbClr val="3823CC"/>
      </a:hlink>
      <a:folHlink>
        <a:srgbClr val="09132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ABM Cloud">
      <a:dk1>
        <a:srgbClr val="000000"/>
      </a:dk1>
      <a:lt1>
        <a:srgbClr val="FFFFFF"/>
      </a:lt1>
      <a:dk2>
        <a:srgbClr val="3823CC"/>
      </a:dk2>
      <a:lt2>
        <a:srgbClr val="F1004C"/>
      </a:lt2>
      <a:accent1>
        <a:srgbClr val="6B5EEB"/>
      </a:accent1>
      <a:accent2>
        <a:srgbClr val="FB5F91"/>
      </a:accent2>
      <a:accent3>
        <a:srgbClr val="7EC4F8"/>
      </a:accent3>
      <a:accent4>
        <a:srgbClr val="39415B"/>
      </a:accent4>
      <a:accent5>
        <a:srgbClr val="FE9DBD"/>
      </a:accent5>
      <a:accent6>
        <a:srgbClr val="9891E5"/>
      </a:accent6>
      <a:hlink>
        <a:srgbClr val="3823CC"/>
      </a:hlink>
      <a:folHlink>
        <a:srgbClr val="09132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3122</Words>
  <Application>Microsoft Office PowerPoint</Application>
  <PresentationFormat>Произвольный</PresentationFormat>
  <Paragraphs>631</Paragraphs>
  <Slides>34</Slides>
  <Notes>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34</vt:i4>
      </vt:variant>
    </vt:vector>
  </HeadingPairs>
  <TitlesOfParts>
    <vt:vector size="38" baseType="lpstr">
      <vt:lpstr>Montserrat</vt:lpstr>
      <vt:lpstr>Arial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Некраш Кристина</dc:creator>
  <cp:lastModifiedBy>Некраш Кристина</cp:lastModifiedBy>
  <cp:revision>1</cp:revision>
  <dcterms:modified xsi:type="dcterms:W3CDTF">2023-08-23T14:15:38Z</dcterms:modified>
</cp:coreProperties>
</file>